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6"/>
  </p:notesMasterIdLst>
  <p:sldIdLst>
    <p:sldId id="304" r:id="rId2"/>
    <p:sldId id="260" r:id="rId3"/>
    <p:sldId id="261" r:id="rId4"/>
    <p:sldId id="259" r:id="rId5"/>
    <p:sldId id="262" r:id="rId6"/>
    <p:sldId id="298" r:id="rId7"/>
    <p:sldId id="302" r:id="rId8"/>
    <p:sldId id="303" r:id="rId9"/>
    <p:sldId id="296" r:id="rId10"/>
    <p:sldId id="305" r:id="rId11"/>
    <p:sldId id="307" r:id="rId12"/>
    <p:sldId id="306" r:id="rId13"/>
    <p:sldId id="316" r:id="rId14"/>
    <p:sldId id="315" r:id="rId15"/>
    <p:sldId id="317" r:id="rId16"/>
    <p:sldId id="318" r:id="rId17"/>
    <p:sldId id="297" r:id="rId18"/>
    <p:sldId id="310" r:id="rId19"/>
    <p:sldId id="311" r:id="rId20"/>
    <p:sldId id="309" r:id="rId21"/>
    <p:sldId id="313" r:id="rId22"/>
    <p:sldId id="314" r:id="rId23"/>
    <p:sldId id="312" r:id="rId24"/>
    <p:sldId id="301" r:id="rId25"/>
  </p:sldIdLst>
  <p:sldSz cx="9144000" cy="5143500" type="screen16x9"/>
  <p:notesSz cx="6858000" cy="9144000"/>
  <p:embeddedFontLst>
    <p:embeddedFont>
      <p:font typeface="Open Sans" panose="020B0606030504020204" pitchFamily="34" charset="0"/>
      <p:regular r:id="rId27"/>
      <p:bold r:id="rId28"/>
      <p:italic r:id="rId29"/>
      <p:boldItalic r:id="rId30"/>
    </p:embeddedFont>
    <p:embeddedFont>
      <p:font typeface="Sora"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9A4C72-E42C-456B-B179-403FEF0C4C00}">
  <a:tblStyle styleId="{3A9A4C72-E42C-456B-B179-403FEF0C4C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9FF0C6A-9A07-4A30-8E53-53A2E1D40A8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80"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a:extLst>
            <a:ext uri="{FF2B5EF4-FFF2-40B4-BE49-F238E27FC236}">
              <a16:creationId xmlns:a16="http://schemas.microsoft.com/office/drawing/2014/main" id="{2C0C725E-A648-181A-C51E-7CE9C71DEAD9}"/>
            </a:ext>
          </a:extLst>
        </p:cNvPr>
        <p:cNvGrpSpPr/>
        <p:nvPr/>
      </p:nvGrpSpPr>
      <p:grpSpPr>
        <a:xfrm>
          <a:off x="0" y="0"/>
          <a:ext cx="0" cy="0"/>
          <a:chOff x="0" y="0"/>
          <a:chExt cx="0" cy="0"/>
        </a:xfrm>
      </p:grpSpPr>
      <p:sp>
        <p:nvSpPr>
          <p:cNvPr id="1588" name="Google Shape;1588;g184d99d1a72_0_15:notes">
            <a:extLst>
              <a:ext uri="{FF2B5EF4-FFF2-40B4-BE49-F238E27FC236}">
                <a16:creationId xmlns:a16="http://schemas.microsoft.com/office/drawing/2014/main" id="{A56BA553-8058-D504-88A6-9799AD3C3F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a:extLst>
              <a:ext uri="{FF2B5EF4-FFF2-40B4-BE49-F238E27FC236}">
                <a16:creationId xmlns:a16="http://schemas.microsoft.com/office/drawing/2014/main" id="{6EAB2D6A-C44A-18B2-EB18-F5268B643B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8191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473A9606-4EE1-F691-17AB-BA36739CF119}"/>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20D33E36-E3D3-E9B1-B5A7-F94C67A39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DDEF8521-F34A-2A6A-64C5-43C90A9D95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176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C0F59656-925B-6DB6-C740-DFB2E101A00B}"/>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A510014C-1B71-B867-07EF-ACDD2E6E4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36AAD77-B41E-5D05-92BA-C9FAFC2BB9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5788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9FF2DC06-E663-47B9-E804-54725FD638CD}"/>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3D3387A6-FF8B-1D78-DFCC-801BA78C6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956F028F-285F-842A-DE05-1993C7F3B3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9140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C00F54D9-6495-17E7-F439-03423C74E7BA}"/>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2AC5599A-253D-2516-D131-3B850CC5E8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74254F8-C49F-80A5-0722-1ED7F08464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3032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F180F02D-6441-97A6-F9CB-7A9921569D4C}"/>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58A5A697-B82D-2117-3C52-6E04682607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2BD93A91-25D5-1995-22FE-0CD7116A06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916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F9C54AB3-03E5-D96E-BD61-B597AC23244A}"/>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C26C0216-361E-615B-08A9-32E579791E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6D81BB32-9E63-4849-582D-7F5661A621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737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3159213B-23DD-B6D8-8499-0505B3CD83E9}"/>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C151CBF6-3B05-B268-3EEA-F4856F11CB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0C0B49BE-572D-3000-CE16-79BDCC7BA6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61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9ADF7777-9783-E409-F973-980210B4A4ED}"/>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5D003925-92A4-CB04-F2C2-6F1AADF625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61B7D78-78CB-963C-5B07-364F8637A0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1705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3FECDF51-589B-4B5C-DC5F-55E9A24DFDEE}"/>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315B5237-92D0-80A6-54E7-0B5AD0E12E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B01DFF4F-80EF-27BC-8CF9-7F0C70638B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7849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29C44615-5BA3-8202-8850-9783ABEE4729}"/>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1421312F-7688-EDEA-568F-CD9E8F1876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7C1CC394-A091-CB86-F87F-DB848224BE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462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2E73B0F0-FD0A-60A3-788E-D76EC892E8F2}"/>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42A410A2-F07B-FD46-933C-68D3DC3A6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A9924BC1-36D4-9F16-0DF4-D86911402F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2374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0D60E2C3-9F8E-5871-82C7-2EE15442250F}"/>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EDCEFF98-F96A-BFA3-A54C-2D46BEADD1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A6E2D46-0CBC-5C47-600F-9C7D0C161C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078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40205252-6286-7A0D-EC37-F2B8EA1EBD33}"/>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DB5CFEA2-C527-7CED-D8D0-01E2FFAC0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CEA022F-CEF4-15A8-1B90-AC828BB71A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0233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7FB7BA97-2C09-64E2-8524-39E5B9F4CC80}"/>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5E566C0F-2C29-06E4-CD06-53953E3238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5BACC702-379A-144A-6B56-B3508069A2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3788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327C78AB-D666-CB38-AE7D-AEB49FA7FFF8}"/>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6246962A-A729-527E-FD3B-C71E2E197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C3A2BD28-DF2C-D1DA-FAF1-458E33CC0E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6802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8" name="Google Shape;48;p5"/>
          <p:cNvSpPr txBox="1">
            <a:spLocks noGrp="1"/>
          </p:cNvSpPr>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5" r:id="rId4"/>
    <p:sldLayoutId id="2147483656" r:id="rId5"/>
    <p:sldLayoutId id="2147483658" r:id="rId6"/>
    <p:sldLayoutId id="2147483661" r:id="rId7"/>
    <p:sldLayoutId id="2147483665" r:id="rId8"/>
    <p:sldLayoutId id="214748366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mdpi.com/2227-9032/10/10/1940"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ijicis.journals.ekb.eg/article_206332.htm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456F64-F541-108A-39A2-753006E6F86A}"/>
              </a:ext>
            </a:extLst>
          </p:cNvPr>
          <p:cNvSpPr/>
          <p:nvPr/>
        </p:nvSpPr>
        <p:spPr>
          <a:xfrm>
            <a:off x="0" y="43545"/>
            <a:ext cx="9144000" cy="5143500"/>
          </a:xfrm>
          <a:prstGeom prst="rect">
            <a:avLst/>
          </a:prstGeom>
          <a:solidFill>
            <a:schemeClr val="accent3">
              <a:lumMod val="95000"/>
            </a:schemeClr>
          </a:solidFill>
          <a:ln>
            <a:solidFill>
              <a:schemeClr val="accent3">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ea typeface="Calibri" panose="020F0502020204030204" pitchFamily="34" charset="0"/>
                <a:cs typeface="Calibri" panose="020F0502020204030204" pitchFamily="34" charset="0"/>
              </a:rPr>
              <a:t>3rd Review</a:t>
            </a:r>
            <a:br>
              <a:rPr lang="en-US" dirty="0"/>
            </a:br>
            <a:endParaRPr lang="en-IN" dirty="0">
              <a:solidFill>
                <a:srgbClr val="00B050"/>
              </a:solidFill>
            </a:endParaRPr>
          </a:p>
        </p:txBody>
      </p:sp>
      <p:sp>
        <p:nvSpPr>
          <p:cNvPr id="3" name="TextBox 2">
            <a:extLst>
              <a:ext uri="{FF2B5EF4-FFF2-40B4-BE49-F238E27FC236}">
                <a16:creationId xmlns:a16="http://schemas.microsoft.com/office/drawing/2014/main" id="{EDA50F16-BFB3-9564-45AB-5C614367CB73}"/>
              </a:ext>
            </a:extLst>
          </p:cNvPr>
          <p:cNvSpPr txBox="1"/>
          <p:nvPr/>
        </p:nvSpPr>
        <p:spPr>
          <a:xfrm>
            <a:off x="0" y="94732"/>
            <a:ext cx="9144000" cy="3539430"/>
          </a:xfrm>
          <a:prstGeom prst="rect">
            <a:avLst/>
          </a:prstGeom>
          <a:noFill/>
        </p:spPr>
        <p:txBody>
          <a:bodyPr wrap="square" rtlCol="0">
            <a:spAutoFit/>
          </a:bodyPr>
          <a:lstStyle/>
          <a:p>
            <a:pPr algn="ct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3</a:t>
            </a:r>
            <a:r>
              <a:rPr lang="en-US" sz="1800" baseline="30000" dirty="0">
                <a:solidFill>
                  <a:schemeClr val="tx1"/>
                </a:solidFill>
                <a:latin typeface="Calibri" panose="020F0502020204030204" pitchFamily="34" charset="0"/>
                <a:ea typeface="Calibri" panose="020F0502020204030204" pitchFamily="34" charset="0"/>
                <a:cs typeface="Calibri" panose="020F0502020204030204" pitchFamily="34" charset="0"/>
              </a:rPr>
              <a:t>rd</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Review</a:t>
            </a:r>
          </a:p>
          <a:p>
            <a:pPr algn="ctr"/>
            <a:r>
              <a:rPr lang="en-US" sz="1800" dirty="0">
                <a:solidFill>
                  <a:schemeClr val="tx2"/>
                </a:solidFill>
                <a:latin typeface="Calibri" panose="020F0502020204030204" pitchFamily="34" charset="0"/>
                <a:ea typeface="Calibri" panose="020F0502020204030204" pitchFamily="34" charset="0"/>
                <a:cs typeface="Calibri" panose="020F0502020204030204" pitchFamily="34" charset="0"/>
              </a:rPr>
              <a:t>Integrated Patient Care Management Platform</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2410030076 – Kodali Naga Sreeja</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2410030228 –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Bijju</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Adithi Yadav</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2410030229 – Likitha Thumma</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2410030232 – Esha Manogna H</a:t>
            </a:r>
            <a:b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2410030430 –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Malreddy</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Manogna</a:t>
            </a:r>
          </a:p>
          <a:p>
            <a:pPr algn="ct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Under the Guidance </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of</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B050"/>
                </a:solidFill>
                <a:latin typeface="Calibri" panose="020F0502020204030204" pitchFamily="34" charset="0"/>
                <a:ea typeface="Calibri" panose="020F0502020204030204" pitchFamily="34" charset="0"/>
                <a:cs typeface="Calibri" panose="020F0502020204030204" pitchFamily="34" charset="0"/>
              </a:rPr>
              <a:t>Dr. N. Rama Rao</a:t>
            </a:r>
            <a:br>
              <a:rPr lang="en-US" dirty="0">
                <a:solidFill>
                  <a:srgbClr val="00B05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B050"/>
                </a:solidFill>
                <a:latin typeface="Calibri" panose="020F0502020204030204" pitchFamily="34" charset="0"/>
                <a:ea typeface="Calibri" panose="020F0502020204030204" pitchFamily="34" charset="0"/>
                <a:cs typeface="Calibri" panose="020F0502020204030204" pitchFamily="34" charset="0"/>
              </a:rPr>
              <a:t>Associate Professor</a:t>
            </a:r>
            <a:br>
              <a:rPr lang="en-US" dirty="0">
                <a:solidFill>
                  <a:srgbClr val="00B05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B050"/>
                </a:solidFill>
                <a:latin typeface="Calibri" panose="020F0502020204030204" pitchFamily="34" charset="0"/>
                <a:ea typeface="Calibri" panose="020F0502020204030204" pitchFamily="34" charset="0"/>
                <a:cs typeface="Calibri" panose="020F0502020204030204" pitchFamily="34" charset="0"/>
              </a:rPr>
              <a:t>Department of CSE</a:t>
            </a:r>
          </a:p>
          <a:p>
            <a:pPr algn="ctr"/>
            <a:endParaRPr lang="en-IN" dirty="0"/>
          </a:p>
        </p:txBody>
      </p:sp>
      <p:pic>
        <p:nvPicPr>
          <p:cNvPr id="4" name="Picture 3">
            <a:extLst>
              <a:ext uri="{FF2B5EF4-FFF2-40B4-BE49-F238E27FC236}">
                <a16:creationId xmlns:a16="http://schemas.microsoft.com/office/drawing/2014/main" id="{707A3E11-B7F0-70DB-40B8-77FFF4CAB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785" y="3466176"/>
            <a:ext cx="2096430" cy="898018"/>
          </a:xfrm>
          <a:prstGeom prst="rect">
            <a:avLst/>
          </a:prstGeom>
        </p:spPr>
      </p:pic>
      <p:sp>
        <p:nvSpPr>
          <p:cNvPr id="5" name="TextBox 4">
            <a:extLst>
              <a:ext uri="{FF2B5EF4-FFF2-40B4-BE49-F238E27FC236}">
                <a16:creationId xmlns:a16="http://schemas.microsoft.com/office/drawing/2014/main" id="{0FB90AB6-9962-61C8-7E7C-F77179703D12}"/>
              </a:ext>
            </a:extLst>
          </p:cNvPr>
          <p:cNvSpPr txBox="1"/>
          <p:nvPr/>
        </p:nvSpPr>
        <p:spPr>
          <a:xfrm>
            <a:off x="2445835" y="4461632"/>
            <a:ext cx="4735550" cy="738664"/>
          </a:xfrm>
          <a:prstGeom prst="rect">
            <a:avLst/>
          </a:prstGeom>
          <a:noFill/>
        </p:spPr>
        <p:txBody>
          <a:bodyPr wrap="square" rtlCol="0">
            <a:spAutoFit/>
          </a:bodyPr>
          <a:lstStyle/>
          <a:p>
            <a:r>
              <a:rPr lang="en-US" b="1" dirty="0">
                <a:solidFill>
                  <a:srgbClr val="C00000"/>
                </a:solidFill>
              </a:rPr>
              <a:t>KONERU LAKSHMAIAH EDUCATION FOUNDATION</a:t>
            </a:r>
          </a:p>
          <a:p>
            <a:endParaRPr lang="en-IN" dirty="0"/>
          </a:p>
          <a:p>
            <a:endParaRPr lang="en-IN" dirty="0"/>
          </a:p>
        </p:txBody>
      </p:sp>
    </p:spTree>
    <p:extLst>
      <p:ext uri="{BB962C8B-B14F-4D97-AF65-F5344CB8AC3E}">
        <p14:creationId xmlns:p14="http://schemas.microsoft.com/office/powerpoint/2010/main" val="2562507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501" name="Google Shape;1501;p29"/>
          <p:cNvSpPr txBox="1">
            <a:spLocks noGrp="1"/>
          </p:cNvSpPr>
          <p:nvPr>
            <p:ph type="subTitle" idx="1"/>
          </p:nvPr>
        </p:nvSpPr>
        <p:spPr>
          <a:xfrm>
            <a:off x="696948" y="722164"/>
            <a:ext cx="5764142" cy="3693418"/>
          </a:xfrm>
          <a:prstGeom prst="rect">
            <a:avLst/>
          </a:prstGeom>
        </p:spPr>
        <p:txBody>
          <a:bodyPr spcFirstLastPara="1" wrap="square" lIns="91425" tIns="91425" rIns="91425" bIns="91425" anchor="t" anchorCtr="0">
            <a:no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Importance of Patient Management</a:t>
            </a:r>
            <a:endParaRPr lang="en-US" sz="18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Hospitals handle large volumes of patient data daily</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Requires accurate and timely access to records</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Supports better treatment decisions and patient care</a:t>
            </a:r>
          </a:p>
          <a:p>
            <a:pPr algn="just"/>
            <a:r>
              <a:rPr lang="en-US" sz="1800" b="1" dirty="0">
                <a:solidFill>
                  <a:schemeClr val="tx1"/>
                </a:solidFill>
                <a:latin typeface="Times New Roman" panose="02020603050405020304" pitchFamily="18" charset="0"/>
                <a:cs typeface="Times New Roman" panose="02020603050405020304" pitchFamily="18" charset="0"/>
              </a:rPr>
              <a:t>Issues with Manual Records</a:t>
            </a:r>
            <a:endParaRPr lang="en-US" sz="18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Time-consuming to search and update data</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Risk of human errors and data loss</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Difficult to maintain security and privacy</a:t>
            </a:r>
          </a:p>
          <a:p>
            <a:pPr algn="just"/>
            <a:r>
              <a:rPr lang="en-US" sz="1800" b="1" dirty="0">
                <a:solidFill>
                  <a:schemeClr val="tx1"/>
                </a:solidFill>
                <a:latin typeface="Times New Roman" panose="02020603050405020304" pitchFamily="18" charset="0"/>
                <a:cs typeface="Times New Roman" panose="02020603050405020304" pitchFamily="18" charset="0"/>
              </a:rPr>
              <a:t>Need for Computerized DBMS</a:t>
            </a:r>
            <a:endParaRPr lang="en-US" sz="18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Centralized and organized patient information</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Faster data retrieval and updates</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Improved data security, integrity, and efficiency</a:t>
            </a:r>
          </a:p>
          <a:p>
            <a:pPr marL="0" lvl="0" indent="0" algn="just" rtl="0">
              <a:spcBef>
                <a:spcPts val="0"/>
              </a:spcBef>
              <a:spcAft>
                <a:spcPts val="0"/>
              </a:spcAft>
              <a:buNone/>
            </a:pPr>
            <a:endParaRPr dirty="0">
              <a:solidFill>
                <a:schemeClr val="tx1"/>
              </a:solidFill>
            </a:endParaRPr>
          </a:p>
        </p:txBody>
      </p:sp>
      <p:grpSp>
        <p:nvGrpSpPr>
          <p:cNvPr id="1504" name="Google Shape;1504;p29"/>
          <p:cNvGrpSpPr/>
          <p:nvPr/>
        </p:nvGrpSpPr>
        <p:grpSpPr>
          <a:xfrm>
            <a:off x="722506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p:cNvGrpSpPr/>
          <p:nvPr/>
        </p:nvGrpSpPr>
        <p:grpSpPr>
          <a:xfrm>
            <a:off x="7123554" y="2350374"/>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p:cNvGrpSpPr/>
          <p:nvPr/>
        </p:nvGrpSpPr>
        <p:grpSpPr>
          <a:xfrm>
            <a:off x="6851421" y="1145822"/>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pic>
        <p:nvPicPr>
          <p:cNvPr id="3" name="Picture 2">
            <a:extLst>
              <a:ext uri="{FF2B5EF4-FFF2-40B4-BE49-F238E27FC236}">
                <a16:creationId xmlns:a16="http://schemas.microsoft.com/office/drawing/2014/main" id="{9CA712FD-59C4-0DEF-A582-A3172F12474B}"/>
              </a:ext>
            </a:extLst>
          </p:cNvPr>
          <p:cNvPicPr>
            <a:picLocks noChangeAspect="1"/>
          </p:cNvPicPr>
          <p:nvPr/>
        </p:nvPicPr>
        <p:blipFill>
          <a:blip r:embed="rId3"/>
          <a:stretch>
            <a:fillRect/>
          </a:stretch>
        </p:blipFill>
        <p:spPr>
          <a:xfrm>
            <a:off x="0" y="394009"/>
            <a:ext cx="9144000" cy="4817327"/>
          </a:xfrm>
          <a:prstGeom prst="rect">
            <a:avLst/>
          </a:prstGeom>
        </p:spPr>
      </p:pic>
      <p:sp>
        <p:nvSpPr>
          <p:cNvPr id="2" name="TextBox 1">
            <a:extLst>
              <a:ext uri="{FF2B5EF4-FFF2-40B4-BE49-F238E27FC236}">
                <a16:creationId xmlns:a16="http://schemas.microsoft.com/office/drawing/2014/main" id="{210B7CE9-68B3-D193-DC04-4D070F134B98}"/>
              </a:ext>
            </a:extLst>
          </p:cNvPr>
          <p:cNvSpPr txBox="1"/>
          <p:nvPr/>
        </p:nvSpPr>
        <p:spPr>
          <a:xfrm>
            <a:off x="1687551" y="63930"/>
            <a:ext cx="5263375" cy="307777"/>
          </a:xfrm>
          <a:prstGeom prst="rect">
            <a:avLst/>
          </a:prstGeom>
          <a:noFill/>
        </p:spPr>
        <p:txBody>
          <a:bodyPr wrap="square" rtlCol="0">
            <a:spAutoFit/>
          </a:bodyPr>
          <a:lstStyle/>
          <a:p>
            <a:r>
              <a:rPr lang="en-IN" b="1" dirty="0"/>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dirty="0">
                <a:latin typeface="Times New Roman" panose="02020603050405020304" pitchFamily="18" charset="0"/>
                <a:cs typeface="Times New Roman" panose="02020603050405020304" pitchFamily="18" charset="0"/>
              </a:rPr>
              <a:t>Literature review</a:t>
            </a:r>
            <a:endParaRPr sz="2400" dirty="0">
              <a:latin typeface="Times New Roman" panose="02020603050405020304" pitchFamily="18" charset="0"/>
              <a:cs typeface="Times New Roman" panose="02020603050405020304" pitchFamily="18" charset="0"/>
            </a:endParaRPr>
          </a:p>
        </p:txBody>
      </p:sp>
      <p:sp>
        <p:nvSpPr>
          <p:cNvPr id="1594" name="Google Shape;1594;p30"/>
          <p:cNvSpPr txBox="1">
            <a:spLocks noGrp="1"/>
          </p:cNvSpPr>
          <p:nvPr>
            <p:ph type="subTitle" idx="1"/>
          </p:nvPr>
        </p:nvSpPr>
        <p:spPr>
          <a:xfrm>
            <a:off x="514958" y="1084448"/>
            <a:ext cx="7429145" cy="3948469"/>
          </a:xfrm>
          <a:prstGeom prst="rect">
            <a:avLst/>
          </a:prstGeom>
        </p:spPr>
        <p:txBody>
          <a:bodyPr spcFirstLastPara="1" wrap="square" lIns="91425" tIns="91425" rIns="91425" bIns="91425" anchor="t" anchorCtr="0">
            <a:noAutofit/>
          </a:bodyPr>
          <a:lstStyle/>
          <a:p>
            <a:pPr marL="0" indent="0"/>
            <a:r>
              <a:rPr lang="en-US" sz="1400" b="1" dirty="0">
                <a:solidFill>
                  <a:schemeClr val="tx1"/>
                </a:solidFill>
                <a:latin typeface="Times New Roman" panose="02020603050405020304" pitchFamily="18" charset="0"/>
                <a:cs typeface="Times New Roman" panose="02020603050405020304" pitchFamily="18" charset="0"/>
              </a:rPr>
              <a:t>Recent Advancements in Emerging Technologies for Healthcare Management Systems: A Survey</a:t>
            </a:r>
          </a:p>
          <a:p>
            <a:pPr marL="0" indent="0"/>
            <a:endParaRPr lang="en-US" sz="1600" b="1"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Review role of Sensors, IoT, AI, and Blockchain in Healthcare Management Systems (HMS)</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Sensors &amp; IoT → enable smart monitoring and diagnosis</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AI → provides intelligent insights for decision-making</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Blockchain → ensures secure, decentralized data storage</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Challenges: high cost, interoperability, data privacy, scalability, regulatory issues</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Paper proposes a taxonomy linking these technologies</a:t>
            </a:r>
          </a:p>
          <a:p>
            <a:pPr marL="0" lvl="0" indent="0" eaLnBrk="0" fontAlgn="base" hangingPunct="0">
              <a:spcBef>
                <a:spcPct val="0"/>
              </a:spcBef>
              <a:spcAft>
                <a:spcPct val="0"/>
              </a:spcAft>
              <a:buClrTx/>
              <a:buSzTx/>
              <a:buFontTx/>
              <a:buChar char="•"/>
            </a:pPr>
            <a:r>
              <a:rPr lang="en-US" altLang="en-US" sz="1600" dirty="0">
                <a:solidFill>
                  <a:schemeClr val="tx1"/>
                </a:solidFill>
                <a:latin typeface="Times New Roman" panose="02020603050405020304" pitchFamily="18" charset="0"/>
                <a:ea typeface="Open Sans" panose="020B0606030504020204" pitchFamily="34" charset="0"/>
                <a:cs typeface="Times New Roman" panose="02020603050405020304" pitchFamily="18" charset="0"/>
              </a:rPr>
              <a:t>Future work should focus on overcoming challenges for seamless digital healthcare integration</a:t>
            </a:r>
          </a:p>
          <a:p>
            <a:pPr marL="0" lvl="0" indent="0" algn="ctr"/>
            <a:r>
              <a:rPr lang="en-US"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https://www.mdpi.com/2227-9032/10/10/1940</a:t>
            </a:r>
            <a:endParaRPr b="1" dirty="0">
              <a:solidFill>
                <a:schemeClr val="tx1"/>
              </a:solidFill>
              <a:latin typeface="Times New Roman" panose="02020603050405020304" pitchFamily="18" charset="0"/>
              <a:cs typeface="Times New Roman" panose="02020603050405020304" pitchFamily="18" charset="0"/>
            </a:endParaRPr>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0">
          <a:extLst>
            <a:ext uri="{FF2B5EF4-FFF2-40B4-BE49-F238E27FC236}">
              <a16:creationId xmlns:a16="http://schemas.microsoft.com/office/drawing/2014/main" id="{2AFE535D-9941-F6AB-2D6D-B091AE5434C0}"/>
            </a:ext>
          </a:extLst>
        </p:cNvPr>
        <p:cNvGrpSpPr/>
        <p:nvPr/>
      </p:nvGrpSpPr>
      <p:grpSpPr>
        <a:xfrm>
          <a:off x="0" y="0"/>
          <a:ext cx="0" cy="0"/>
          <a:chOff x="0" y="0"/>
          <a:chExt cx="0" cy="0"/>
        </a:xfrm>
      </p:grpSpPr>
      <p:sp>
        <p:nvSpPr>
          <p:cNvPr id="1591" name="Google Shape;1591;p30">
            <a:extLst>
              <a:ext uri="{FF2B5EF4-FFF2-40B4-BE49-F238E27FC236}">
                <a16:creationId xmlns:a16="http://schemas.microsoft.com/office/drawing/2014/main" id="{996FB3B9-CC43-4CD9-615C-85C6408AEE15}"/>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dirty="0">
                <a:latin typeface="Calibri" panose="020F0502020204030204" pitchFamily="34" charset="0"/>
                <a:ea typeface="Calibri" panose="020F0502020204030204" pitchFamily="34" charset="0"/>
                <a:cs typeface="Calibri" panose="020F0502020204030204" pitchFamily="34" charset="0"/>
              </a:rPr>
              <a:t>Literature </a:t>
            </a:r>
            <a:r>
              <a:rPr lang="en-IN" sz="2400" dirty="0">
                <a:latin typeface="Times New Roman" panose="02020603050405020304" pitchFamily="18" charset="0"/>
                <a:ea typeface="Calibri" panose="020F0502020204030204" pitchFamily="34" charset="0"/>
                <a:cs typeface="Times New Roman" panose="02020603050405020304" pitchFamily="18" charset="0"/>
              </a:rPr>
              <a:t>review</a:t>
            </a:r>
            <a:endParaRPr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94" name="Google Shape;1594;p30">
            <a:extLst>
              <a:ext uri="{FF2B5EF4-FFF2-40B4-BE49-F238E27FC236}">
                <a16:creationId xmlns:a16="http://schemas.microsoft.com/office/drawing/2014/main" id="{A0DDC598-6A2E-4DFF-1A53-6E36D049EA58}"/>
              </a:ext>
            </a:extLst>
          </p:cNvPr>
          <p:cNvSpPr txBox="1">
            <a:spLocks noGrp="1"/>
          </p:cNvSpPr>
          <p:nvPr>
            <p:ph type="subTitle" idx="1"/>
          </p:nvPr>
        </p:nvSpPr>
        <p:spPr>
          <a:xfrm>
            <a:off x="514958" y="1084448"/>
            <a:ext cx="7429145" cy="3673406"/>
          </a:xfrm>
          <a:prstGeom prst="rect">
            <a:avLst/>
          </a:prstGeom>
        </p:spPr>
        <p:txBody>
          <a:bodyPr spcFirstLastPara="1" wrap="square" lIns="91425" tIns="91425" rIns="91425" bIns="91425" anchor="t" anchorCtr="0">
            <a:noAutofit/>
          </a:bodyPr>
          <a:lstStyle/>
          <a:p>
            <a:pPr marL="0" indent="0"/>
            <a:r>
              <a:rPr lang="en-US" sz="1400" b="1" dirty="0">
                <a:solidFill>
                  <a:schemeClr val="tx1">
                    <a:lumMod val="95000"/>
                  </a:schemeClr>
                </a:solidFill>
                <a:latin typeface="Times New Roman" panose="02020603050405020304" pitchFamily="18" charset="0"/>
                <a:ea typeface="Calibri" panose="020F0502020204030204" pitchFamily="34" charset="0"/>
                <a:cs typeface="Times New Roman" panose="02020603050405020304" pitchFamily="18" charset="0"/>
              </a:rPr>
              <a:t>SMART Hospital Management Systems Based on Internet of Things: Challenges, Intelligent Solutions and Functional Requirements</a:t>
            </a:r>
          </a:p>
          <a:p>
            <a:pPr marL="0" indent="0"/>
            <a:endParaRPr lang="en-US" sz="1400" b="1" dirty="0">
              <a:solidFill>
                <a:schemeClr val="tx1">
                  <a:lumMod val="95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400" dirty="0">
                <a:solidFill>
                  <a:schemeClr val="bg2">
                    <a:lumMod val="75000"/>
                  </a:schemeClr>
                </a:solidFill>
                <a:latin typeface="Times New Roman" panose="02020603050405020304" pitchFamily="18" charset="0"/>
                <a:ea typeface="Calibri" panose="020F0502020204030204" pitchFamily="34" charset="0"/>
                <a:cs typeface="Times New Roman" panose="02020603050405020304" pitchFamily="18" charset="0"/>
              </a:rPr>
              <a:t>IoT connects physical objects and enables the collection, transfer, and analysis of patient data through cloud computing, improving the quality of care and supporting SMART healthcare systems. In developing countries like Egypt, traditional documentation is being replaced with electronic systems to provide cost-effective and efficient healthcare. </a:t>
            </a:r>
          </a:p>
          <a:p>
            <a:pPr marL="285750" indent="-285750">
              <a:buFont typeface="Arial" panose="020B0604020202020204" pitchFamily="34" charset="0"/>
              <a:buChar char="•"/>
            </a:pPr>
            <a:r>
              <a:rPr lang="en-US" sz="1400" dirty="0">
                <a:solidFill>
                  <a:schemeClr val="bg2">
                    <a:lumMod val="75000"/>
                  </a:schemeClr>
                </a:solidFill>
                <a:latin typeface="Times New Roman" panose="02020603050405020304" pitchFamily="18" charset="0"/>
                <a:ea typeface="Calibri" panose="020F0502020204030204" pitchFamily="34" charset="0"/>
                <a:cs typeface="Times New Roman" panose="02020603050405020304" pitchFamily="18" charset="0"/>
              </a:rPr>
              <a:t>IoT helps in real-time monitoring, medical readings, image capturing, and drug supervision, ensuring timely notifications that can even save patients’ lives. However, challenges such as security, privacy, device communication, and data management remain critical. </a:t>
            </a:r>
          </a:p>
          <a:p>
            <a:pPr marL="285750" indent="-285750">
              <a:buFont typeface="Arial" panose="020B0604020202020204" pitchFamily="34" charset="0"/>
              <a:buChar char="•"/>
            </a:pPr>
            <a:r>
              <a:rPr lang="en-US" sz="1400" dirty="0">
                <a:solidFill>
                  <a:schemeClr val="bg2">
                    <a:lumMod val="75000"/>
                  </a:schemeClr>
                </a:solidFill>
                <a:latin typeface="Times New Roman" panose="02020603050405020304" pitchFamily="18" charset="0"/>
                <a:ea typeface="Calibri" panose="020F0502020204030204" pitchFamily="34" charset="0"/>
                <a:cs typeface="Times New Roman" panose="02020603050405020304" pitchFamily="18" charset="0"/>
              </a:rPr>
              <a:t>A proposed reference model for SMART hospital management considers both functional and non-functional requirements to achieve better performance and reliability.</a:t>
            </a:r>
          </a:p>
          <a:p>
            <a:pPr marL="0" indent="0"/>
            <a:endParaRPr lang="en-US" sz="1400" dirty="0">
              <a:solidFill>
                <a:schemeClr val="bg2">
                  <a:lumMod val="75000"/>
                </a:schemeClr>
              </a:solidFill>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https://ijicis.journals.ekb.eg/article_206332.html</a:t>
            </a:r>
            <a:endParaRPr lang="en-US" sz="1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chemeClr val="bg2">
                  <a:lumMod val="75000"/>
                </a:schemeClr>
              </a:solidFill>
              <a:latin typeface="Times New Roman" panose="02020603050405020304" pitchFamily="18" charset="0"/>
              <a:cs typeface="Times New Roman" panose="02020603050405020304" pitchFamily="18" charset="0"/>
            </a:endParaRPr>
          </a:p>
          <a:p>
            <a:pPr marL="0" indent="0"/>
            <a:endParaRPr lang="en-US" sz="1400" b="1" dirty="0">
              <a:solidFill>
                <a:schemeClr val="tx1">
                  <a:lumMod val="95000"/>
                </a:schemeClr>
              </a:solidFill>
              <a:latin typeface="Times New Roman" panose="02020603050405020304" pitchFamily="18" charset="0"/>
              <a:cs typeface="Times New Roman" panose="02020603050405020304" pitchFamily="18" charset="0"/>
            </a:endParaRPr>
          </a:p>
          <a:p>
            <a:pPr marL="0" indent="0"/>
            <a:endParaRPr lang="en-US" sz="1400" dirty="0">
              <a:solidFill>
                <a:schemeClr val="tx1">
                  <a:lumMod val="95000"/>
                </a:schemeClr>
              </a:solidFill>
              <a:latin typeface="Times New Roman" panose="02020603050405020304" pitchFamily="18" charset="0"/>
              <a:cs typeface="Times New Roman" panose="02020603050405020304" pitchFamily="18" charset="0"/>
            </a:endParaRPr>
          </a:p>
          <a:p>
            <a:pPr marL="0" lvl="0" indent="0"/>
            <a:endParaRPr b="1" dirty="0">
              <a:latin typeface="Times New Roman" panose="02020603050405020304" pitchFamily="18" charset="0"/>
              <a:cs typeface="Times New Roman" panose="02020603050405020304" pitchFamily="18" charset="0"/>
            </a:endParaRPr>
          </a:p>
        </p:txBody>
      </p:sp>
      <p:grpSp>
        <p:nvGrpSpPr>
          <p:cNvPr id="1598" name="Google Shape;1598;p30">
            <a:extLst>
              <a:ext uri="{FF2B5EF4-FFF2-40B4-BE49-F238E27FC236}">
                <a16:creationId xmlns:a16="http://schemas.microsoft.com/office/drawing/2014/main" id="{D4003714-0D46-AC90-7844-CEA5E0E25581}"/>
              </a:ext>
            </a:extLst>
          </p:cNvPr>
          <p:cNvGrpSpPr/>
          <p:nvPr/>
        </p:nvGrpSpPr>
        <p:grpSpPr>
          <a:xfrm>
            <a:off x="7814889" y="900912"/>
            <a:ext cx="887675" cy="801288"/>
            <a:chOff x="6544194" y="2365864"/>
            <a:chExt cx="529544" cy="478038"/>
          </a:xfrm>
        </p:grpSpPr>
        <p:sp>
          <p:nvSpPr>
            <p:cNvPr id="1599" name="Google Shape;1599;p30">
              <a:extLst>
                <a:ext uri="{FF2B5EF4-FFF2-40B4-BE49-F238E27FC236}">
                  <a16:creationId xmlns:a16="http://schemas.microsoft.com/office/drawing/2014/main" id="{09B50A28-F43F-B06A-29C7-9FCA1B416CE6}"/>
                </a:ext>
              </a:extLst>
            </p:cNvPr>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a:extLst>
                <a:ext uri="{FF2B5EF4-FFF2-40B4-BE49-F238E27FC236}">
                  <a16:creationId xmlns:a16="http://schemas.microsoft.com/office/drawing/2014/main" id="{A3BC5D79-4E52-6376-70B1-7916C864CF21}"/>
                </a:ext>
              </a:extLst>
            </p:cNvPr>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a:extLst>
                <a:ext uri="{FF2B5EF4-FFF2-40B4-BE49-F238E27FC236}">
                  <a16:creationId xmlns:a16="http://schemas.microsoft.com/office/drawing/2014/main" id="{6DA06762-8794-0D46-2AF9-E9333C3F021D}"/>
                </a:ext>
              </a:extLst>
            </p:cNvPr>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a:extLst>
                <a:ext uri="{FF2B5EF4-FFF2-40B4-BE49-F238E27FC236}">
                  <a16:creationId xmlns:a16="http://schemas.microsoft.com/office/drawing/2014/main" id="{76E5504C-6346-E3C5-F989-C3F428512BEE}"/>
                </a:ext>
              </a:extLst>
            </p:cNvPr>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a:extLst>
                <a:ext uri="{FF2B5EF4-FFF2-40B4-BE49-F238E27FC236}">
                  <a16:creationId xmlns:a16="http://schemas.microsoft.com/office/drawing/2014/main" id="{2D8039EF-8A89-C5E2-0321-9EBA87E326A3}"/>
                </a:ext>
              </a:extLst>
            </p:cNvPr>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a:extLst>
                <a:ext uri="{FF2B5EF4-FFF2-40B4-BE49-F238E27FC236}">
                  <a16:creationId xmlns:a16="http://schemas.microsoft.com/office/drawing/2014/main" id="{1DBCC564-F24D-740B-AC39-DF6234E80D26}"/>
                </a:ext>
              </a:extLst>
            </p:cNvPr>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a:extLst>
                <a:ext uri="{FF2B5EF4-FFF2-40B4-BE49-F238E27FC236}">
                  <a16:creationId xmlns:a16="http://schemas.microsoft.com/office/drawing/2014/main" id="{B0E79386-8254-A9B9-0FD5-DB811125CE44}"/>
                </a:ext>
              </a:extLst>
            </p:cNvPr>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a:extLst>
                <a:ext uri="{FF2B5EF4-FFF2-40B4-BE49-F238E27FC236}">
                  <a16:creationId xmlns:a16="http://schemas.microsoft.com/office/drawing/2014/main" id="{BE2A70E9-D265-4B38-67B6-4D393A9754B9}"/>
                </a:ext>
              </a:extLst>
            </p:cNvPr>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a:extLst>
                <a:ext uri="{FF2B5EF4-FFF2-40B4-BE49-F238E27FC236}">
                  <a16:creationId xmlns:a16="http://schemas.microsoft.com/office/drawing/2014/main" id="{2CE9436A-1841-70EC-5BA8-4AF0C42AA25A}"/>
                </a:ext>
              </a:extLst>
            </p:cNvPr>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a:extLst>
                <a:ext uri="{FF2B5EF4-FFF2-40B4-BE49-F238E27FC236}">
                  <a16:creationId xmlns:a16="http://schemas.microsoft.com/office/drawing/2014/main" id="{127187CE-B0EA-D702-D269-A7F639FD761C}"/>
                </a:ext>
              </a:extLst>
            </p:cNvPr>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87650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979B75BA-6265-A25D-2CD9-B10C50C4CA44}"/>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B0361EBB-BDD1-7040-A54D-8C4FBE128194}"/>
              </a:ext>
            </a:extLst>
          </p:cNvPr>
          <p:cNvSpPr txBox="1">
            <a:spLocks noGrp="1"/>
          </p:cNvSpPr>
          <p:nvPr>
            <p:ph type="title"/>
          </p:nvPr>
        </p:nvSpPr>
        <p:spPr>
          <a:xfrm>
            <a:off x="713170" y="395813"/>
            <a:ext cx="7747774" cy="64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Research</a:t>
            </a:r>
            <a:r>
              <a:rPr lang="en-IN" sz="2400" dirty="0">
                <a:latin typeface="Calibri" panose="020F0502020204030204" pitchFamily="34" charset="0"/>
                <a:ea typeface="Calibri" panose="020F0502020204030204" pitchFamily="34" charset="0"/>
                <a:cs typeface="Calibri" panose="020F0502020204030204" pitchFamily="34" charset="0"/>
              </a:rPr>
              <a:t> Gaps</a:t>
            </a:r>
          </a:p>
        </p:txBody>
      </p:sp>
      <p:grpSp>
        <p:nvGrpSpPr>
          <p:cNvPr id="1215" name="Google Shape;1215;p27">
            <a:extLst>
              <a:ext uri="{FF2B5EF4-FFF2-40B4-BE49-F238E27FC236}">
                <a16:creationId xmlns:a16="http://schemas.microsoft.com/office/drawing/2014/main" id="{6567A215-013D-D680-5D7C-AE494ABF81E1}"/>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22761D23-FBA5-1085-0F96-40B1C20F355B}"/>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9E678B3B-FEE4-EEF2-A0F6-0C4448C40D0A}"/>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8B90F583-103B-1375-33A0-7EA5EC3B8BAF}"/>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BC367AB7-06D1-C847-786E-8561BEFF4359}"/>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34B39977-0EAA-D4FC-0C99-FF6B3561574C}"/>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2B302142-B934-46EA-8F2A-A091A6587003}"/>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B98AEE5E-1834-F67A-7C28-6514C2D184DC}"/>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C76518D5-F135-47BD-F117-65A120CA5420}"/>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CE1BD74C-BCDB-3EE1-60E6-245FB28AE69F}"/>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584E4978-D582-1BC2-9410-6BF176ABEC05}"/>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66E9E44B-BB4C-AEA0-443C-B705A1EE7A05}"/>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4AB0BA41-8F9A-10A6-DD5B-0DC3F8FBB07F}"/>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53CCED56-8DB7-B54D-BE92-9B54F9E34C70}"/>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3BCF73B5-7AEE-69DE-4DF8-25106D960B50}"/>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42ACBBF1-1658-3DA4-1608-D02D451B5529}"/>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17F062F4-B920-162A-8C24-422A16B93D5B}"/>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34856186-C3BC-418D-80DB-85624A8AC066}"/>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F4DB1A1A-78B2-FA98-4BD0-E2D242E23419}"/>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7746FB03-5754-DCA0-2B9F-95C44E7AE3A4}"/>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E3A90ED8-2A6E-4320-5AC7-501594918DCA}"/>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C78ABE6C-08CD-F5FF-DE55-5AE10A498F5C}"/>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1FE8DF4-1F54-EF47-7A79-004B084FCE9E}"/>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F90C460A-0F1E-8ECE-EA38-F0758989E2C6}"/>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23B46A9B-A235-B418-45AD-422C8AF9FAC3}"/>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AA915205-BDF8-498E-33A1-459451F6F1FD}"/>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620CAE4D-C384-29E4-D020-F4291C116665}"/>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C837763B-1CC3-743E-ADFD-4E7CC7BCB78A}"/>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82A3ED2-2CAD-B124-5702-1D8AB2F6765C}"/>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9B96BB70-965E-37B5-6D75-DD10A9CF0957}"/>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1891AF32-D3EB-5EC2-7C05-F7A4BBDE9DC5}"/>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7F97F7AC-877F-5545-3408-050C1055BEF1}"/>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12DE5A1D-418D-F29A-6621-C72BC7B3214E}"/>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BD8C851D-26EA-BC89-B208-ED759C58400E}"/>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0DA976CA-2D5A-E0CF-2E15-BAC2CEEFD99D}"/>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A9AF45DE-BAEB-3D3B-3A0D-4F0DE33C1F0B}"/>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A581D604-8D85-C318-1BC5-0DDB6A67BADB}"/>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BC91D3FD-D034-1253-0184-ACA38D13FBDB}"/>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F9CA6E7C-827E-0250-6420-42D649734563}"/>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9691BD32-8DB2-7031-B885-B2E4981E11EE}"/>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6B8395EA-B00A-C5C3-4394-68BD0B5DE46D}"/>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9E571EFB-B1F6-16B4-9939-DCE2B212431F}"/>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2A7ABD9F-C6BE-09CF-D3D1-6D462643D4D6}"/>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6D6272BC-88BE-E282-87F9-1A484F6A9C1C}"/>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1C35FD1D-AEF4-235B-0FC8-EBA2AA71551F}"/>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4C7C499E-F779-1250-FCC8-2651A71ECA8D}"/>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1361F2E5-DEE2-882C-CB00-0578DA1F2202}"/>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03CFFA12-0D3B-3398-FA03-C3F40D7AE586}"/>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0CEE3398-892D-BCDA-AE34-7EAB5B77DA36}"/>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85EDFCC4-CA7B-0669-6143-74DE5F8CBB36}"/>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A84C23C1-55FD-14DA-09EE-D40FD9A6D387}"/>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42EA90F0-15B6-C913-421E-ED33861CACB2}"/>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019B761E-DC7F-11B4-F9EA-AD67991FA43B}"/>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9FEC858A-01DB-6E10-5E69-42542358D437}"/>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130D090D-A41E-10DE-D8D8-C60A3BD7B665}"/>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EAA36AC7-6375-F807-7DB8-0D949886E166}"/>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71D5D287-1CBD-C56D-3DBA-26F45DD79579}"/>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B46A9C60-8D12-6806-24CC-6FB57F094DA9}"/>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6003FEB5-E2F8-6597-38A0-35011BC54EBD}"/>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719CD3ED-068F-DD6E-ADD0-F4BAAFBF9E69}"/>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85907FCC-8649-F969-3B26-2B3AF5642505}"/>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EF3463BA-9BFA-E338-9D61-C8160C1BA07D}"/>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348AD758-7E08-3329-D9C8-0893AD1FF4A2}"/>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CB1C0AC5-36CA-C490-4A97-258AA72B7DCA}"/>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9FA359DF-B5FE-BA31-328C-B72CE4E112F0}"/>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CBEB4861-8D19-5981-D71C-B7AE48C11E87}"/>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A0F0647A-7525-BA8C-C0D3-B4126586423D}"/>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6088A8B5-A89C-CEBF-3C47-BB9F0D9C0F6D}"/>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497115FF-5B15-C72A-729B-60109F6A4678}"/>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E253F74C-8275-0975-A821-9675A6513151}"/>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a:extLst>
              <a:ext uri="{FF2B5EF4-FFF2-40B4-BE49-F238E27FC236}">
                <a16:creationId xmlns:a16="http://schemas.microsoft.com/office/drawing/2014/main" id="{F525F1E6-1429-4C95-0549-BA6A6FCC7747}"/>
              </a:ext>
            </a:extLst>
          </p:cNvPr>
          <p:cNvSpPr>
            <a:spLocks noGrp="1" noChangeArrowheads="1"/>
          </p:cNvSpPr>
          <p:nvPr>
            <p:ph type="subTitle" idx="1"/>
          </p:nvPr>
        </p:nvSpPr>
        <p:spPr bwMode="auto">
          <a:xfrm>
            <a:off x="900423" y="1302656"/>
            <a:ext cx="6761738"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ea typeface="Calibri" panose="020F0502020204030204" pitchFamily="34" charset="0"/>
                <a:cs typeface="Times New Roman" panose="02020603050405020304" pitchFamily="18" charset="0"/>
              </a:rPr>
              <a:t>Security &amp; Privacy</a:t>
            </a:r>
            <a:r>
              <a:rPr lang="en-US" sz="1600" dirty="0">
                <a:latin typeface="Times New Roman" panose="02020603050405020304" pitchFamily="18" charset="0"/>
                <a:ea typeface="Calibri" panose="020F0502020204030204" pitchFamily="34" charset="0"/>
                <a:cs typeface="Times New Roman" panose="02020603050405020304" pitchFamily="18" charset="0"/>
              </a:rPr>
              <a:t> – Sensitive patient data still lacks strong protection in IoT and Med-IoT systems.</a:t>
            </a:r>
          </a:p>
          <a:p>
            <a:r>
              <a:rPr lang="en-US" sz="1600" b="1" dirty="0">
                <a:latin typeface="Times New Roman" panose="02020603050405020304" pitchFamily="18" charset="0"/>
                <a:ea typeface="Calibri" panose="020F0502020204030204" pitchFamily="34" charset="0"/>
                <a:cs typeface="Times New Roman" panose="02020603050405020304" pitchFamily="18" charset="0"/>
              </a:rPr>
              <a:t>Interoperability</a:t>
            </a:r>
            <a:r>
              <a:rPr lang="en-US" sz="1600" dirty="0">
                <a:latin typeface="Times New Roman" panose="02020603050405020304" pitchFamily="18" charset="0"/>
                <a:ea typeface="Calibri" panose="020F0502020204030204" pitchFamily="34" charset="0"/>
                <a:cs typeface="Times New Roman" panose="02020603050405020304" pitchFamily="18" charset="0"/>
              </a:rPr>
              <a:t> – Difficulty in integrating different devices and hospital systems.</a:t>
            </a:r>
          </a:p>
          <a:p>
            <a:r>
              <a:rPr lang="en-US" sz="1600" b="1" dirty="0">
                <a:latin typeface="Times New Roman" panose="02020603050405020304" pitchFamily="18" charset="0"/>
                <a:ea typeface="Calibri" panose="020F0502020204030204" pitchFamily="34" charset="0"/>
                <a:cs typeface="Times New Roman" panose="02020603050405020304" pitchFamily="18" charset="0"/>
              </a:rPr>
              <a:t>Scalability &amp; Data Handling</a:t>
            </a:r>
            <a:r>
              <a:rPr lang="en-US" sz="1600" dirty="0">
                <a:latin typeface="Times New Roman" panose="02020603050405020304" pitchFamily="18" charset="0"/>
                <a:ea typeface="Calibri" panose="020F0502020204030204" pitchFamily="34" charset="0"/>
                <a:cs typeface="Times New Roman" panose="02020603050405020304" pitchFamily="18" charset="0"/>
              </a:rPr>
              <a:t> – Managing large, real-time healthcare data remains a challenge.</a:t>
            </a:r>
          </a:p>
          <a:p>
            <a:r>
              <a:rPr lang="en-US" sz="1600" b="1" dirty="0">
                <a:latin typeface="Times New Roman" panose="02020603050405020304" pitchFamily="18" charset="0"/>
                <a:ea typeface="Calibri" panose="020F0502020204030204" pitchFamily="34" charset="0"/>
                <a:cs typeface="Times New Roman" panose="02020603050405020304" pitchFamily="18" charset="0"/>
              </a:rPr>
              <a:t>Regulatory &amp; Ethical Issues</a:t>
            </a:r>
            <a:r>
              <a:rPr lang="en-US" sz="1600" dirty="0">
                <a:latin typeface="Times New Roman" panose="02020603050405020304" pitchFamily="18" charset="0"/>
                <a:ea typeface="Calibri" panose="020F0502020204030204" pitchFamily="34" charset="0"/>
                <a:cs typeface="Times New Roman" panose="02020603050405020304" pitchFamily="18" charset="0"/>
              </a:rPr>
              <a:t> – Unclear policies and ethical concerns slow down adoption.</a:t>
            </a:r>
          </a:p>
          <a:p>
            <a:r>
              <a:rPr lang="en-US" sz="1600" b="1" dirty="0">
                <a:latin typeface="Times New Roman" panose="02020603050405020304" pitchFamily="18" charset="0"/>
                <a:ea typeface="Calibri" panose="020F0502020204030204" pitchFamily="34" charset="0"/>
                <a:cs typeface="Times New Roman" panose="02020603050405020304" pitchFamily="18" charset="0"/>
              </a:rPr>
              <a:t>Limited Real-world Validation</a:t>
            </a:r>
            <a:r>
              <a:rPr lang="en-US" sz="1600" dirty="0">
                <a:latin typeface="Times New Roman" panose="02020603050405020304" pitchFamily="18" charset="0"/>
                <a:ea typeface="Calibri" panose="020F0502020204030204" pitchFamily="34" charset="0"/>
                <a:cs typeface="Times New Roman" panose="02020603050405020304" pitchFamily="18" charset="0"/>
              </a:rPr>
              <a:t> – Most models are conceptual or tested on small datasets, not fully implemented in hospitals.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i="0" u="none" strike="noStrike" cap="none" normalizeH="0" baseline="0" dirty="0">
              <a:ln>
                <a:noFill/>
              </a:ln>
              <a:solidFill>
                <a:schemeClr val="bg2">
                  <a:lumMod val="7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304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7E60EE9C-9101-D7BB-5BDD-40E4B2C1C05C}"/>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3330F749-5B83-D279-204D-1CDA9040FB62}"/>
              </a:ext>
            </a:extLst>
          </p:cNvPr>
          <p:cNvSpPr txBox="1">
            <a:spLocks noGrp="1"/>
          </p:cNvSpPr>
          <p:nvPr>
            <p:ph type="title"/>
          </p:nvPr>
        </p:nvSpPr>
        <p:spPr>
          <a:xfrm>
            <a:off x="638508" y="457394"/>
            <a:ext cx="7597883" cy="64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2400" dirty="0">
                <a:latin typeface="Times New Roman" panose="02020603050405020304" pitchFamily="18" charset="0"/>
                <a:cs typeface="Times New Roman" panose="02020603050405020304" pitchFamily="18" charset="0"/>
              </a:rPr>
              <a:t>Hypothesis</a:t>
            </a:r>
          </a:p>
        </p:txBody>
      </p:sp>
      <p:grpSp>
        <p:nvGrpSpPr>
          <p:cNvPr id="1215" name="Google Shape;1215;p27">
            <a:extLst>
              <a:ext uri="{FF2B5EF4-FFF2-40B4-BE49-F238E27FC236}">
                <a16:creationId xmlns:a16="http://schemas.microsoft.com/office/drawing/2014/main" id="{79665AC5-7BA7-7A93-3944-F2836FF07004}"/>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5CC66045-E2BE-04E7-A031-A0E51C6679EE}"/>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E1007737-5373-521E-2D99-D2E8A8A65EC4}"/>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4C1018FF-235B-C244-BAD6-4A7279F489E3}"/>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74950367-DDE6-FEC3-D4E1-63726090BFD1}"/>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ED804D60-1502-96C6-6E64-C53CE56CF806}"/>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5A733753-87A0-AC09-60D3-55B294553F22}"/>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B9C425E5-1B59-3F2F-68A7-C21AEB82A0A7}"/>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497551D6-98DC-5D99-30EC-85A2304A2587}"/>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561E0DEF-AE3B-0232-1E74-9BEA755871BE}"/>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FCFA792D-A3DC-C43D-DB2A-E5A28A74F131}"/>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414BA169-0285-12EE-1316-D299D330BECA}"/>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4EBE9A5F-B071-6760-71CA-95D448422F8F}"/>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9F1C4248-7F26-6179-F78C-87F7AC5007A6}"/>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52562F66-45B7-ED58-6D83-06A2CEF29411}"/>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8D032209-FD8C-5BD5-DE3F-A10418853848}"/>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8223C654-4119-A22A-676C-75054121A917}"/>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3CF3F4D8-29F0-5474-390D-2E62CA8223F4}"/>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E6FCB510-DEAE-C7AB-A997-82255FB9E3CF}"/>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2D80ADD0-C2F3-2425-3244-CC4C007B27C8}"/>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AD5D493E-6845-1A35-3C40-106AEED6E85A}"/>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9F742F53-CED3-FADE-5BCC-CB0355B94FDC}"/>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9927D58A-DB12-CC64-76E9-58215703D7E1}"/>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87F9070F-C606-F926-2850-74F6B0EDA27F}"/>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A95C1F51-6610-4856-D695-C88EC9AB2A10}"/>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73E2EEA6-E5E4-3745-B54B-4E30FAE549EE}"/>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DF774E9D-3B6F-D1CF-4D65-BC6426EA1EA1}"/>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D4AE45AF-7FD6-F145-946B-240942B854A3}"/>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1D04E402-1C5A-091B-1A2E-E1D2199BDB54}"/>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AFFA9740-9BAC-2A3F-DAE8-8BC0FBB2F0B1}"/>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6D382FEC-3911-FE51-F521-B2C95088A8C2}"/>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CA437ED4-B790-5FCC-7587-7BAD1F746BCF}"/>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EE4FC0A6-0F6D-1B19-A7B5-8EAAA93CEEAB}"/>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CBFEDBFB-AD0F-83D8-4214-9919A159310D}"/>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BE1E7A10-8AB4-DBFA-A31D-D45B53319932}"/>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35568EB0-FECF-5C09-12CD-30A5C61916A2}"/>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D42BE015-2D63-7B97-829B-A2CB0E1F0EE2}"/>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E256D4CC-D119-2C35-0720-4C67BBE142E9}"/>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D2732C82-2711-1E3E-E1DF-6A59382E7002}"/>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2243154C-EEB2-2F9E-AB12-F4FCB7F59A2E}"/>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04F12BC6-D076-A6D6-D5F3-E4EFFDEFDA73}"/>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BAC771B4-1866-DE76-4021-AA6CF4FBDCB6}"/>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D1FE4122-A0B8-93C0-B4C8-827008D5D0E8}"/>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522D23B4-A87F-2363-6452-AA587575823A}"/>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96C79CC0-19B9-8649-693A-FEAD6516DD4E}"/>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E8F139B7-3E35-F34A-ECAA-2BBDAC98545C}"/>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AC42987F-F1E7-97CD-1729-B2C5248A8D22}"/>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21D88C7-7273-5A6C-6E76-7121BC660DC9}"/>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496F8319-E10D-EA02-CE57-0CE4D2B861E7}"/>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284CDECD-A88D-507F-B784-9204A6A90671}"/>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3E83D179-E4F9-FF3A-B498-B7963A9E01DC}"/>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79C409B3-2554-8D84-6E30-78A61AB500B3}"/>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62C59B4D-0F3C-F60F-8401-D141D72833BF}"/>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29BCCCD7-4142-FDB6-B22C-76E7158CF834}"/>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4420AAE2-F691-0E60-5BC4-7503E0E5CB4D}"/>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68807F69-0266-115A-96F8-5AA38E895B25}"/>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44FBCD4D-78B9-10F5-974D-A81362647E3C}"/>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CBAC715A-CDA9-2AA5-BD21-344ABBD1706A}"/>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6D724A2F-D7E8-C2B9-7D77-293B1B1563C9}"/>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E22B493C-30AF-3AF8-8E4F-8789A2E12D85}"/>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C63C4014-54BE-B53A-8293-659F4B9D0215}"/>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0D94E407-1A48-99B8-3901-FDA228126CA0}"/>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A0543F93-B923-F729-6FD4-C31C32E97ECF}"/>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ACC38996-8756-6C6C-7CAF-DD17C26E2291}"/>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CE189B44-4C9A-2C50-1AF1-379D7B4E97E0}"/>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30C4DBE4-225E-7F9B-01AE-535AAB81BDB9}"/>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8361729D-0385-46AD-A724-DA3B8429C533}"/>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AA34C85B-446B-7BCB-5446-9B0AB2127475}"/>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B30595F2-DA56-C51B-89B4-40428D9BBDA1}"/>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429F2C90-0591-C3E1-EBB2-DDE03DC5D792}"/>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a:extLst>
              <a:ext uri="{FF2B5EF4-FFF2-40B4-BE49-F238E27FC236}">
                <a16:creationId xmlns:a16="http://schemas.microsoft.com/office/drawing/2014/main" id="{9FD4A4C5-906E-285B-38B1-6F52E5F8F2E0}"/>
              </a:ext>
            </a:extLst>
          </p:cNvPr>
          <p:cNvSpPr>
            <a:spLocks noGrp="1" noChangeArrowheads="1"/>
          </p:cNvSpPr>
          <p:nvPr>
            <p:ph type="subTitle" idx="1"/>
          </p:nvPr>
        </p:nvSpPr>
        <p:spPr bwMode="auto">
          <a:xfrm>
            <a:off x="763585" y="1138752"/>
            <a:ext cx="6705230"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IoT-enabled hospital management systems will significantly improve real-time monitoring and patient care quality compared to traditional systems.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Integration of AI with IoT can enhance decision-making accuracy in diagnosis and treatment prediction.</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Blockchain technology can provide a secure and trustworthy framework for handling patient health records in smart hospitals.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Addressing interoperability and scalability challenges will increase the adoption rate of smart healthcare systems in both developed and developing countries.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Real-world deployment and validation of proposed smart hospital models will prove their practical efficiency and highlight areas for improvement.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solidFill>
                <a:schemeClr val="bg2">
                  <a:lumMod val="75000"/>
                </a:schemeClr>
              </a:solidFill>
              <a:effectLst/>
              <a:latin typeface="Arial" panose="020B0604020202020204" pitchFamily="34" charset="0"/>
            </a:endParaRPr>
          </a:p>
        </p:txBody>
      </p:sp>
    </p:spTree>
    <p:extLst>
      <p:ext uri="{BB962C8B-B14F-4D97-AF65-F5344CB8AC3E}">
        <p14:creationId xmlns:p14="http://schemas.microsoft.com/office/powerpoint/2010/main" val="4158859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F32DF460-0613-155E-C04D-3DDD968BD7B1}"/>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DDB05BCB-93B2-B429-13C3-D4BEBFB6381A}"/>
              </a:ext>
            </a:extLst>
          </p:cNvPr>
          <p:cNvSpPr txBox="1">
            <a:spLocks noGrp="1"/>
          </p:cNvSpPr>
          <p:nvPr>
            <p:ph type="title"/>
          </p:nvPr>
        </p:nvSpPr>
        <p:spPr>
          <a:xfrm>
            <a:off x="752573" y="394968"/>
            <a:ext cx="7573392" cy="64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grpSp>
        <p:nvGrpSpPr>
          <p:cNvPr id="1215" name="Google Shape;1215;p27">
            <a:extLst>
              <a:ext uri="{FF2B5EF4-FFF2-40B4-BE49-F238E27FC236}">
                <a16:creationId xmlns:a16="http://schemas.microsoft.com/office/drawing/2014/main" id="{C0A3D2BE-EFEA-DEC0-9B0A-EB23E8DCFB0D}"/>
              </a:ext>
            </a:extLst>
          </p:cNvPr>
          <p:cNvGrpSpPr/>
          <p:nvPr/>
        </p:nvGrpSpPr>
        <p:grpSpPr>
          <a:xfrm>
            <a:off x="7306148" y="2758084"/>
            <a:ext cx="1466650" cy="1625713"/>
            <a:chOff x="6964178" y="2817557"/>
            <a:chExt cx="1466650" cy="1625713"/>
          </a:xfrm>
        </p:grpSpPr>
        <p:sp>
          <p:nvSpPr>
            <p:cNvPr id="1216" name="Google Shape;1216;p27">
              <a:extLst>
                <a:ext uri="{FF2B5EF4-FFF2-40B4-BE49-F238E27FC236}">
                  <a16:creationId xmlns:a16="http://schemas.microsoft.com/office/drawing/2014/main" id="{2BB64EA5-49FD-B4AC-8A3A-42A866F7F667}"/>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401AA259-E9A8-3069-BFE3-26356A7F26EA}"/>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1E2CBBF2-010B-DFA8-7B7F-A081F480CB08}"/>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D83AE241-07CE-C55E-56EA-134C510A6C15}"/>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EFEF8BC-2FE5-0C92-AC43-1D6053E067D2}"/>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E3442536-10C2-7235-FF77-0FB9207155EE}"/>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2578FEA9-7056-A95E-9827-F76976B7DE1F}"/>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0979CC3A-C29E-2BD3-33D5-2A6353EF9AA5}"/>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93AA1187-4297-767F-35AD-C5D39236DC1D}"/>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8259B2AC-5FD9-B84F-04B2-C9A243DE3C04}"/>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C6AA0225-8488-0E76-B5A2-D6BB243482F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58AF9365-04D4-EF26-811D-27CFF76FC406}"/>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EC410CA8-CD13-BE49-530E-A2980F0F43F6}"/>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84D86D8F-1BD8-98C7-333F-DFF132D3B47E}"/>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7183F7D3-2B5B-4711-45E8-54738DEC2FF6}"/>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5DE78484-2E82-37B9-0C7E-C8A52DADDF87}"/>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52E3CFFC-8931-DF28-9EE8-EFCAAB11F78D}"/>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4A4E9E49-ED1F-A43D-FA4C-3339E631F703}"/>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FB17DFB1-E9B2-392A-E6C8-AAD7576479AE}"/>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DB346992-3D1A-451C-2362-305CB468DD1A}"/>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CF1F57FC-A308-4B7A-FBB7-0B7C22DE8F9C}"/>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28AB9648-4915-8E71-6D6F-438DB66D214C}"/>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56F81B31-CFFC-0F34-0267-0B098D31F6C8}"/>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49B96FED-4F23-40D7-AF1A-8A64245D684F}"/>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30A5BE3C-DBE7-647F-9F8A-A50FCF1E52F2}"/>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9BFC0CE1-9FCF-D82E-B494-27B81D65AC95}"/>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3E32E44E-DD9D-275C-AB9E-012C52D064C6}"/>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895A87DE-11FA-2CAA-4D4E-C3D1079F9A56}"/>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B1D86745-9F36-26C7-12B8-1D532DF1AAF2}"/>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873CD294-8400-4AB8-2EB8-A8727D3EFF1A}"/>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23D034B3-8A5D-A63D-04EF-F0812DE406FA}"/>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B6441D28-A801-4F86-23A7-3D1EC28548F2}"/>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70787981-F2D7-5369-BA03-015B61D43A86}"/>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4E58D2D0-DA10-82B5-3008-E6284D38B46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113F3F13-6B0B-4D19-E2C7-2A09C5340D12}"/>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9CDCBA3F-8E3E-9E45-CC8B-012CAE871F6F}"/>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5DD44AB3-940B-6135-770D-43A4D2E0AFEE}"/>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8728EB28-B01C-CA3B-30E7-0CBF38E81185}"/>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F43028EE-E5E6-1484-9262-E0AD3AE86D61}"/>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C489AE52-402A-28D1-A21F-8311F5F4D0D0}"/>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9C4987F3-0F72-14D8-405C-667CEF84F89C}"/>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C2EEA2C4-62ED-DB7F-6143-52805E24B61A}"/>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3D8D7096-C9D7-A2FD-E26A-6F65F12CD0E6}"/>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5A048CC-8148-BC32-1F73-7090218CAABC}"/>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A380A3D2-A375-7F88-6C56-65E317F88349}"/>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55DF8731-CA2A-1E1A-D8E3-CA2FFB4A831A}"/>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A782B3A-8414-17DD-FD3D-D7A99C210CEF}"/>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BCA7734C-4D25-7013-B835-D4F5E31B0ADA}"/>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C3C59314-4368-00FB-5255-0378C8821D22}"/>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4C80BA18-3B3C-C0E3-7129-F45BD1A14D03}"/>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0D078AAE-9337-8CDE-0683-044E578FEB0E}"/>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F63BED05-9ECC-B579-CDFB-956FC24987F1}"/>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9B63C6BD-3821-5611-C330-62E01B0ADDA1}"/>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59CF04E7-1D96-137C-34DF-8C344541C648}"/>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BC46C742-0C37-B8D2-6010-E7051648F649}"/>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30B70B8F-95D1-4766-094D-445B283D3A26}"/>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C07389E5-F7DA-0CA7-A942-CD76FC33BF92}"/>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88F71331-1C8C-4853-2AAF-DFE914AC9F2C}"/>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2C6F4FA5-57D0-999C-76FE-91F40F2EB610}"/>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FE2A7001-2E08-AF51-A226-8717F5939B76}"/>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1056D448-1118-FD16-5E53-1DB5FD10F772}"/>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3CE6C481-50F6-93F6-DA3A-D90BAC7A6F04}"/>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276AE4C7-4068-0019-729B-ADF52D8F4233}"/>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BCAF2F8E-3A13-DB71-C8DE-04547F6EB125}"/>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AEB565D0-44A0-9C70-519D-76EAC9E64762}"/>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9AC3F04D-B2EF-F5ED-D06D-9D62423D7450}"/>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446577DB-79B7-43E1-A062-8599FCDF6E94}"/>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11835C5B-D7C3-E75F-967D-5A1A61A8673E}"/>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9117E701-0ABC-220A-1C65-56737E44B60E}"/>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1">
            <a:extLst>
              <a:ext uri="{FF2B5EF4-FFF2-40B4-BE49-F238E27FC236}">
                <a16:creationId xmlns:a16="http://schemas.microsoft.com/office/drawing/2014/main" id="{62E5400C-A3B4-D18D-3808-68D0E8845A4C}"/>
              </a:ext>
            </a:extLst>
          </p:cNvPr>
          <p:cNvSpPr>
            <a:spLocks noGrp="1" noChangeArrowheads="1"/>
          </p:cNvSpPr>
          <p:nvPr>
            <p:ph type="subTitle" idx="1"/>
          </p:nvPr>
        </p:nvSpPr>
        <p:spPr bwMode="auto">
          <a:xfrm>
            <a:off x="631826" y="1160582"/>
            <a:ext cx="681873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cs typeface="Times New Roman" panose="02020603050405020304" pitchFamily="18" charset="0"/>
              </a:rPr>
              <a:t>1. Application</a:t>
            </a:r>
          </a:p>
          <a:p>
            <a:r>
              <a:rPr lang="en-US" sz="1600" b="1" dirty="0">
                <a:latin typeface="Times New Roman" panose="02020603050405020304" pitchFamily="18" charset="0"/>
                <a:cs typeface="Times New Roman" panose="02020603050405020304" pitchFamily="18" charset="0"/>
              </a:rPr>
              <a:t>Objective:</a:t>
            </a:r>
            <a:r>
              <a:rPr lang="en-US" sz="1600" dirty="0">
                <a:latin typeface="Times New Roman" panose="02020603050405020304" pitchFamily="18" charset="0"/>
                <a:cs typeface="Times New Roman" panose="02020603050405020304" pitchFamily="18" charset="0"/>
              </a:rPr>
              <a:t> Build a secure, scalable system for patient registration, appointments, EMR, billing, and role-based access.</a:t>
            </a:r>
          </a:p>
          <a:p>
            <a:r>
              <a:rPr lang="en-US" sz="1600" b="1" dirty="0">
                <a:latin typeface="Times New Roman" panose="02020603050405020304" pitchFamily="18" charset="0"/>
                <a:cs typeface="Times New Roman" panose="02020603050405020304" pitchFamily="18" charset="0"/>
              </a:rPr>
              <a:t>Methodology:</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3-tier architecture (UI, API, Database)</a:t>
            </a:r>
          </a:p>
          <a:p>
            <a:r>
              <a:rPr lang="en-US" sz="1600" dirty="0">
                <a:latin typeface="Times New Roman" panose="02020603050405020304" pitchFamily="18" charset="0"/>
                <a:cs typeface="Times New Roman" panose="02020603050405020304" pitchFamily="18" charset="0"/>
              </a:rPr>
              <a:t>Relational database with normalization &amp; indexing</a:t>
            </a:r>
          </a:p>
          <a:p>
            <a:r>
              <a:rPr lang="en-US" sz="1600" dirty="0">
                <a:latin typeface="Times New Roman" panose="02020603050405020304" pitchFamily="18" charset="0"/>
                <a:cs typeface="Times New Roman" panose="02020603050405020304" pitchFamily="18" charset="0"/>
              </a:rPr>
              <a:t>Role-based access, HTTPS, encryption</a:t>
            </a:r>
          </a:p>
          <a:p>
            <a:r>
              <a:rPr lang="en-US" sz="1600" dirty="0">
                <a:latin typeface="Times New Roman" panose="02020603050405020304" pitchFamily="18" charset="0"/>
                <a:cs typeface="Times New Roman" panose="02020603050405020304" pitchFamily="18" charset="0"/>
              </a:rPr>
              <a:t>Agile development with testing &amp; CI/CD</a:t>
            </a:r>
          </a:p>
          <a:p>
            <a:r>
              <a:rPr lang="en-US" sz="1600" b="1" dirty="0">
                <a:latin typeface="Times New Roman" panose="02020603050405020304" pitchFamily="18" charset="0"/>
                <a:cs typeface="Times New Roman" panose="02020603050405020304" pitchFamily="18" charset="0"/>
              </a:rPr>
              <a:t>Results: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Faster patient registration &amp; search</a:t>
            </a:r>
          </a:p>
          <a:p>
            <a:r>
              <a:rPr lang="en-US" sz="1600" dirty="0">
                <a:latin typeface="Times New Roman" panose="02020603050405020304" pitchFamily="18" charset="0"/>
                <a:cs typeface="Times New Roman" panose="02020603050405020304" pitchFamily="18" charset="0"/>
              </a:rPr>
              <a:t>Secure, audited access control</a:t>
            </a:r>
          </a:p>
          <a:p>
            <a:r>
              <a:rPr lang="en-US" sz="1600" dirty="0">
                <a:latin typeface="Times New Roman" panose="02020603050405020304" pitchFamily="18" charset="0"/>
                <a:cs typeface="Times New Roman" panose="02020603050405020304" pitchFamily="18" charset="0"/>
              </a:rPr>
              <a:t>Reduced intake time and data errors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5783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0E908D99-CA1E-24A0-796D-77B4D7497BC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666D8ED-F0E0-5C60-B133-8BFAA320C3B9}"/>
              </a:ext>
            </a:extLst>
          </p:cNvPr>
          <p:cNvPicPr>
            <a:picLocks noChangeAspect="1"/>
          </p:cNvPicPr>
          <p:nvPr/>
        </p:nvPicPr>
        <p:blipFill>
          <a:blip r:embed="rId3"/>
          <a:stretch>
            <a:fillRect/>
          </a:stretch>
        </p:blipFill>
        <p:spPr>
          <a:xfrm>
            <a:off x="984070" y="546798"/>
            <a:ext cx="6783976" cy="3993516"/>
          </a:xfrm>
          <a:prstGeom prst="rect">
            <a:avLst/>
          </a:prstGeom>
        </p:spPr>
      </p:pic>
    </p:spTree>
    <p:extLst>
      <p:ext uri="{BB962C8B-B14F-4D97-AF65-F5344CB8AC3E}">
        <p14:creationId xmlns:p14="http://schemas.microsoft.com/office/powerpoint/2010/main" val="2665359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CFAD38E7-142D-3F40-43A8-2FCBCC11FBF2}"/>
            </a:ext>
          </a:extLst>
        </p:cNvPr>
        <p:cNvGrpSpPr/>
        <p:nvPr/>
      </p:nvGrpSpPr>
      <p:grpSpPr>
        <a:xfrm>
          <a:off x="0" y="0"/>
          <a:ext cx="0" cy="0"/>
          <a:chOff x="0" y="0"/>
          <a:chExt cx="0" cy="0"/>
        </a:xfrm>
      </p:grpSpPr>
      <p:grpSp>
        <p:nvGrpSpPr>
          <p:cNvPr id="1215" name="Google Shape;1215;p27">
            <a:extLst>
              <a:ext uri="{FF2B5EF4-FFF2-40B4-BE49-F238E27FC236}">
                <a16:creationId xmlns:a16="http://schemas.microsoft.com/office/drawing/2014/main" id="{11D91645-D66A-01C5-0A7C-6888D1ABD512}"/>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CB6026D3-812A-FD76-6E70-1FCDED8F7FD3}"/>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BAB9B605-1119-86DE-7848-D94CC916FEB6}"/>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E5063BFF-E304-6B5D-1636-8D9F39708350}"/>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A71024B8-410A-D7DF-B890-484890730F01}"/>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A91662E0-F27B-8340-9A3F-2AE10FEF8C86}"/>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1805F7D6-D262-AAE8-6757-E911850E2B7C}"/>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E65588A9-AAA2-AD8D-BBD4-6D458F096F1D}"/>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589AAAA4-17D9-A170-50AF-938A055515F5}"/>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83838BCE-7A3B-0111-E14C-370478C91B32}"/>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F6C94E7F-CA6D-29F6-78AE-5C20B497497C}"/>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B4A2D451-F497-81A5-4946-F45EFFDAA4C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184C3C76-F875-2223-CC22-9CA3575F430E}"/>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46F53A0D-4FF9-FAB1-7B1A-841938D5E202}"/>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F7223E8B-A618-7FEA-8EBE-A24C99FEA4BF}"/>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F6FF12C5-20A2-4417-3143-58B5BB05AF87}"/>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3ED7388E-6BC8-4E9F-E3E4-FE260B7EB78E}"/>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7FCAF861-08C3-F7C1-5575-E75B4D5E575A}"/>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9CEE38CB-74A3-BB2C-08AF-5D19F3C20107}"/>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FA63F275-0077-62DB-0260-28C9D6C69841}"/>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6F45A6A0-5637-EFA5-059F-615D26866A1E}"/>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DF1F90DA-4FF0-C198-B287-33642D2B869C}"/>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D819BDC-72C8-6D20-F78B-329D0B8B3DD9}"/>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C8757D68-ED89-3499-09D2-6E4A6B37020B}"/>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9F4C787F-2ABD-DABB-4105-32DA58DA38D0}"/>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263B9DC9-BA10-35D4-AAEC-848A8298AC47}"/>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60F5B573-3659-9268-7CB1-C843E68674D0}"/>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00E3891E-3370-FC0D-4942-CE5EBAD366D3}"/>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B41E597-9F57-90DC-F22A-0F6640C22BA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86010DB7-424C-49F6-0500-BC8F4DEE20A6}"/>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6BF22C05-EE93-8A63-6479-A386EFA0178B}"/>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73289B3A-728F-2D9A-65A2-C4265450D73D}"/>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11944DC3-7B39-255D-D8E9-B3135FC19523}"/>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95C69F5C-DB5F-91EE-B1FA-66D32F4FD6F9}"/>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473FDE2B-B024-A30A-2CCB-E18EFF06748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21BD1D0F-1D89-8254-4238-09FE31DC4B87}"/>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1E958BB7-61F7-FA4C-4F1A-110F5635E2CB}"/>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5AEA10DF-F88D-A344-BADB-57C113BDF7E9}"/>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AB5691F0-3381-E31C-4124-4187D7AF034B}"/>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04758E16-B449-37F1-ADF0-A1B3A6ADFB1A}"/>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F40BE90F-78BF-37CD-72A9-2AD61F8B5A56}"/>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8E61A32C-8481-86D9-74CF-D51FF7A2E070}"/>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E373C4C7-C7FA-C808-87D3-CDD54F3E8E0E}"/>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73FC77BE-FCB7-1978-81D9-E015B4054C21}"/>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236B4ACC-87D4-52B6-2890-3F6AA9945D71}"/>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6609D14B-63EB-95F0-1CFE-7D81FD06E1EC}"/>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D76820D1-EBCF-56B4-3C2E-F7082840ABFC}"/>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FBA1709C-E498-F4C2-EA93-44AE5582B75A}"/>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6B1FAF12-0A95-D971-8599-D6E753DB0146}"/>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4A358F2A-2366-5B79-2BF5-4E9A602DA8E2}"/>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95D3C7C3-C523-65EA-1F22-C7A7DB1B1730}"/>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D9AD3841-6D5E-DA0E-FA5E-01E640EDF5F8}"/>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099E8905-9076-E8F7-E284-5DB35CEECCED}"/>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A464DC52-57FE-5415-73F6-6047DB88AD1D}"/>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8E195478-E65B-82CF-C91A-D97FBACEE3DB}"/>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B087D8FD-AF9A-728C-8919-80208C0446EC}"/>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B9EB89A9-AC1E-52ED-8C41-499F15A955D1}"/>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DF550991-9BDD-B5E7-E742-F9C851F5707A}"/>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FE98ADEC-914B-4FC8-2A1C-239766ACB81B}"/>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F4CF96C-3F22-EDBD-D549-E15EBDDD74BE}"/>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C94FCF50-2CC3-5F08-1DF4-D18C3A5AA38D}"/>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2BC894DA-47B2-6E7E-29D1-2C2069601639}"/>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4A91B8B0-7774-DDF8-1A02-A11AEB47FBBD}"/>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DDAD679D-712E-41DC-BEB4-2197ABF26779}"/>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62829916-FEE7-6757-03D8-C7541B576C54}"/>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0C5A3CF4-A24B-6E9B-B1FB-57BEA87AA040}"/>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8F35E4A2-AA01-2C87-E84F-1A4EDC9BD3D7}"/>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D7F94F5E-B9CF-924F-1E36-33D9C145EF66}"/>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69E92B00-5364-35E5-3771-498D2E054582}"/>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AC5B2B5A-023F-AAD1-C929-48D09B06E7B3}"/>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9795D838-768F-1C80-C9C3-3030C48F1E93}"/>
              </a:ext>
            </a:extLst>
          </p:cNvPr>
          <p:cNvSpPr txBox="1"/>
          <p:nvPr/>
        </p:nvSpPr>
        <p:spPr>
          <a:xfrm>
            <a:off x="1048493" y="1262796"/>
            <a:ext cx="5904044"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Signal (Alerts &amp; Notifications)</a:t>
            </a:r>
          </a:p>
          <a:p>
            <a:pPr>
              <a:buNone/>
            </a:pPr>
            <a:r>
              <a:rPr lang="en-IN" sz="1600" b="1" dirty="0">
                <a:latin typeface="Times New Roman" panose="02020603050405020304" pitchFamily="18" charset="0"/>
                <a:cs typeface="Times New Roman" panose="02020603050405020304" pitchFamily="18" charset="0"/>
              </a:rPr>
              <a:t>Objective:</a:t>
            </a:r>
            <a:r>
              <a:rPr lang="en-IN" sz="1600" dirty="0">
                <a:latin typeface="Times New Roman" panose="02020603050405020304" pitchFamily="18" charset="0"/>
                <a:cs typeface="Times New Roman" panose="02020603050405020304" pitchFamily="18" charset="0"/>
              </a:rPr>
              <a:t> Deliver timely alerts for vitals, lab results, appointments.</a:t>
            </a:r>
          </a:p>
          <a:p>
            <a:pPr>
              <a:buNone/>
            </a:pPr>
            <a:r>
              <a:rPr lang="en-IN" sz="1600" b="1" dirty="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Categorize alerts (Info, Warning, Critical)</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message queue &amp; routing rules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Multiple channels: in-app, SMS, email</a:t>
            </a:r>
          </a:p>
          <a:p>
            <a:pPr>
              <a:buNone/>
            </a:pPr>
            <a:r>
              <a:rPr lang="en-IN" sz="1600" b="1" dirty="0">
                <a:latin typeface="Times New Roman" panose="02020603050405020304" pitchFamily="18" charset="0"/>
                <a:cs typeface="Times New Roman" panose="02020603050405020304" pitchFamily="18" charset="0"/>
              </a:rPr>
              <a:t>Results:</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99% alert delivery rate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Median delivery time &lt;1 sec for in-app</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Proper escalation on missed acknowledgements</a:t>
            </a:r>
          </a:p>
        </p:txBody>
      </p:sp>
    </p:spTree>
    <p:extLst>
      <p:ext uri="{BB962C8B-B14F-4D97-AF65-F5344CB8AC3E}">
        <p14:creationId xmlns:p14="http://schemas.microsoft.com/office/powerpoint/2010/main" val="155840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2A42EC55-1B13-C1E7-9AC0-1D8260B47BC7}"/>
            </a:ext>
          </a:extLst>
        </p:cNvPr>
        <p:cNvGrpSpPr/>
        <p:nvPr/>
      </p:nvGrpSpPr>
      <p:grpSpPr>
        <a:xfrm>
          <a:off x="0" y="0"/>
          <a:ext cx="0" cy="0"/>
          <a:chOff x="0" y="0"/>
          <a:chExt cx="0" cy="0"/>
        </a:xfrm>
      </p:grpSpPr>
      <p:grpSp>
        <p:nvGrpSpPr>
          <p:cNvPr id="1215" name="Google Shape;1215;p27">
            <a:extLst>
              <a:ext uri="{FF2B5EF4-FFF2-40B4-BE49-F238E27FC236}">
                <a16:creationId xmlns:a16="http://schemas.microsoft.com/office/drawing/2014/main" id="{05198456-D139-708F-A88E-5EE106741E06}"/>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CB231518-2565-A9F4-8D61-29C34A306E7A}"/>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8D82B072-30D5-6123-5FED-46B25FDB44B2}"/>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EEE806C1-ED2E-92F1-40F3-556AEE069CF0}"/>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3A91F827-50CD-4228-EDCB-17EFDC7F77F3}"/>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1564C14B-6149-6B80-856C-13E41E0A30C9}"/>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C01A25ED-2B7A-1E8C-8DA5-1A3C1591338D}"/>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3EAE05DE-2D89-1F4C-F1A4-50126B03697D}"/>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2E26B5DF-0C6B-3B38-097A-3C1A8F74DFD3}"/>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10768617-8150-E3C9-A607-60A0BC7C2F47}"/>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533E25DC-8FFA-2C91-F453-F3D819B9174B}"/>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981CF5E1-9276-0AB0-B85A-CCD444432F2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CE66D655-5F61-41DC-2441-B2FEC0461766}"/>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0CF0F009-116D-5A12-4D8B-9A66C2201682}"/>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3207B349-913C-22BF-C5EE-89929569FD64}"/>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1F6FCB2D-AC83-E441-9205-B527788F9C70}"/>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EE4CA81C-FBDF-3F15-E706-C3F352166FFE}"/>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BFC9855A-1054-319A-8962-25F80B1ED5AC}"/>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FBB26F8D-DCB0-CF2A-6BAF-4874CD9DE5AD}"/>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67ECCEE7-1B4E-BF26-C1FF-F34754631127}"/>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85216A65-15F6-0CFD-71FC-5AC1DB0CF29B}"/>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3809E81E-7F82-6044-D910-D0AAA27B07D6}"/>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7B0C001E-B691-5CB3-C9C9-A187C3F073D4}"/>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4D80181E-15F2-EBC3-3B75-32647F3AD256}"/>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CABE4BB7-EE45-21A7-BCDC-EF85145D3BCC}"/>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57155F59-C828-5A00-8A0B-17414F8207B1}"/>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33AC246D-01BF-3ACD-B781-526B80362B16}"/>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0C8F649C-0D64-4682-6882-47150DC0AB76}"/>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CF67C3E1-7A45-8B43-DA8B-E9FB00C68BF2}"/>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4A47B484-2593-8939-17B4-F34F00D71E73}"/>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9F3CD728-65F0-8E1D-2AAA-63AE1CC88E3A}"/>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B28BE516-58C6-394F-7D02-93138D42668D}"/>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492F2E42-042D-9DBE-EF64-0EC311930EC2}"/>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534D3C1D-1551-55F5-825F-4E5BE6FBB897}"/>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B8CE4D9B-F7CF-C7ED-FBA5-04C12F47CA4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FB678066-EAEB-94D3-DEE1-055868BE4BAC}"/>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67264066-B53F-968E-E275-D374B5C22F60}"/>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94C98AEC-DE70-E97A-5EBF-D4E66B79FF09}"/>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7045AF06-2C10-6D2D-2B88-62D66AA28539}"/>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0DD6FBA8-F80F-F905-CFD9-5AC772B13FBA}"/>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98BBDB42-A895-B6D7-171F-07232F03C94E}"/>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AA732532-0472-8CD7-9221-AD7B34F9B229}"/>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095FF0AA-D624-7597-A849-BE960A2ECF22}"/>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B31FFDD4-4785-AC4F-850E-85913D720972}"/>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D9E2FB5-97D2-F9C0-C152-1933FEC1FDBB}"/>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C271705F-48B5-2AED-A84C-CD42BC394024}"/>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A7183C15-EF77-CE10-1EDD-9B4CF8141187}"/>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EC659779-D36F-FAB0-4E42-AC15C3906225}"/>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FA8EC281-84ED-54B7-E94C-F2070FFB0A67}"/>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28CB323F-276B-1A56-314A-7B611391976D}"/>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9B5F2849-7C16-4AFA-23F5-9CA93BB83FDE}"/>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CCE591B7-95E8-B94D-CD31-F9750FE7AEA8}"/>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4A2C8B4C-D139-4F21-F423-2EC5501FCEED}"/>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D5466069-34CC-4AC4-1440-81D2DBD3F5F3}"/>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5634A8E1-E476-9B6D-EA98-56B35173431E}"/>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7CDF37BD-EF8B-F77D-C783-FBE850171C8A}"/>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67FD161E-04D2-FE08-69B6-A014AF89AA36}"/>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5EEC88D9-7F2B-27AF-A8B2-E20D75187308}"/>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0B4A7606-CDAA-CC06-4EA9-B339AB832CBE}"/>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F5FF5C98-25D7-B7E9-BBEC-4404A806CB74}"/>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493589A3-43EE-D6F9-7885-F12D18579728}"/>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117C7510-459A-26B4-4A8C-0BC34D6CFC84}"/>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C146E294-F510-3969-529A-91C6BDD157D9}"/>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CB05BB9B-2E56-E84B-245E-A225A5A6E3BA}"/>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2803A060-6E4A-41F8-96E0-375E1BA30CCB}"/>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D3E3E969-31A9-C20A-32EC-82E14C99EA4B}"/>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C6A4C3AF-EC97-C787-655C-940866EC7AF0}"/>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BA7642D6-95CF-B864-2FD8-336903AD2B97}"/>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0A99EC90-93E1-33F4-413C-C87F696E9A42}"/>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91E1D55D-7A13-0EE8-0383-68CC98023F2E}"/>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BB4376F1-7DA0-21C6-062E-22C84F1CB21E}"/>
              </a:ext>
            </a:extLst>
          </p:cNvPr>
          <p:cNvSpPr txBox="1"/>
          <p:nvPr/>
        </p:nvSpPr>
        <p:spPr>
          <a:xfrm>
            <a:off x="1048493" y="1226687"/>
            <a:ext cx="5517641" cy="255454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Pre-processing (Data Cleaning)</a:t>
            </a:r>
          </a:p>
          <a:p>
            <a:pPr>
              <a:buNone/>
            </a:pPr>
            <a:r>
              <a:rPr lang="en-IN" sz="1600" b="1" dirty="0">
                <a:latin typeface="Times New Roman" panose="02020603050405020304" pitchFamily="18" charset="0"/>
                <a:cs typeface="Times New Roman" panose="02020603050405020304" pitchFamily="18" charset="0"/>
              </a:rPr>
              <a:t>Objective:</a:t>
            </a:r>
            <a:r>
              <a:rPr lang="en-IN" sz="1600" dirty="0">
                <a:latin typeface="Times New Roman" panose="02020603050405020304" pitchFamily="18" charset="0"/>
                <a:cs typeface="Times New Roman" panose="02020603050405020304" pitchFamily="18" charset="0"/>
              </a:rPr>
              <a:t> Improve data quality and prepare for analytics.</a:t>
            </a:r>
          </a:p>
          <a:p>
            <a:pPr>
              <a:buNone/>
            </a:pPr>
            <a:r>
              <a:rPr lang="en-IN" sz="1600" b="1" dirty="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Validate schema, normalize fields (dates, units)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Deduplicate patient records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Automate ETL pipelines with monitoring</a:t>
            </a:r>
          </a:p>
          <a:p>
            <a:pPr>
              <a:buNone/>
            </a:pPr>
            <a:r>
              <a:rPr lang="en-IN" sz="1600" b="1" dirty="0">
                <a:latin typeface="Times New Roman" panose="02020603050405020304" pitchFamily="18" charset="0"/>
                <a:cs typeface="Times New Roman" panose="02020603050405020304" pitchFamily="18" charset="0"/>
              </a:rPr>
              <a:t>Results:</a:t>
            </a:r>
            <a:endParaRPr lang="en-IN"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Reduced missing data &amp; duplicates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Faster report generation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Better accuracy in clinical insights</a:t>
            </a:r>
          </a:p>
        </p:txBody>
      </p:sp>
    </p:spTree>
    <p:extLst>
      <p:ext uri="{BB962C8B-B14F-4D97-AF65-F5344CB8AC3E}">
        <p14:creationId xmlns:p14="http://schemas.microsoft.com/office/powerpoint/2010/main" val="178136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B3462013-3CD1-BDAB-398E-4C0082B6B26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ABC0E9A-3E40-D16D-8AA3-A99595067ABB}"/>
              </a:ext>
            </a:extLst>
          </p:cNvPr>
          <p:cNvPicPr>
            <a:picLocks noChangeAspect="1"/>
          </p:cNvPicPr>
          <p:nvPr/>
        </p:nvPicPr>
        <p:blipFill>
          <a:blip r:embed="rId3"/>
          <a:stretch>
            <a:fillRect/>
          </a:stretch>
        </p:blipFill>
        <p:spPr>
          <a:xfrm>
            <a:off x="566057" y="1193074"/>
            <a:ext cx="8055429" cy="3065417"/>
          </a:xfrm>
          <a:prstGeom prst="rect">
            <a:avLst/>
          </a:prstGeom>
        </p:spPr>
      </p:pic>
      <p:sp>
        <p:nvSpPr>
          <p:cNvPr id="4" name="TextBox 3">
            <a:extLst>
              <a:ext uri="{FF2B5EF4-FFF2-40B4-BE49-F238E27FC236}">
                <a16:creationId xmlns:a16="http://schemas.microsoft.com/office/drawing/2014/main" id="{714AFEA2-132E-43AC-6405-2EA7684AA640}"/>
              </a:ext>
            </a:extLst>
          </p:cNvPr>
          <p:cNvSpPr txBox="1"/>
          <p:nvPr/>
        </p:nvSpPr>
        <p:spPr>
          <a:xfrm>
            <a:off x="716228" y="519733"/>
            <a:ext cx="377654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Workflow</a:t>
            </a:r>
          </a:p>
        </p:txBody>
      </p:sp>
    </p:spTree>
    <p:extLst>
      <p:ext uri="{BB962C8B-B14F-4D97-AF65-F5344CB8AC3E}">
        <p14:creationId xmlns:p14="http://schemas.microsoft.com/office/powerpoint/2010/main" val="3543004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4F29DEC8-C0BC-DD22-AF66-1FECA1FCDF9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E265EEC-22D2-AA77-6F55-DAC8FEA248B3}"/>
              </a:ext>
            </a:extLst>
          </p:cNvPr>
          <p:cNvPicPr>
            <a:picLocks noChangeAspect="1"/>
          </p:cNvPicPr>
          <p:nvPr/>
        </p:nvPicPr>
        <p:blipFill>
          <a:blip r:embed="rId3"/>
          <a:stretch>
            <a:fillRect/>
          </a:stretch>
        </p:blipFill>
        <p:spPr>
          <a:xfrm>
            <a:off x="513806" y="1349830"/>
            <a:ext cx="8029303" cy="2941930"/>
          </a:xfrm>
          <a:prstGeom prst="rect">
            <a:avLst/>
          </a:prstGeom>
        </p:spPr>
      </p:pic>
      <p:sp>
        <p:nvSpPr>
          <p:cNvPr id="4" name="TextBox 3">
            <a:extLst>
              <a:ext uri="{FF2B5EF4-FFF2-40B4-BE49-F238E27FC236}">
                <a16:creationId xmlns:a16="http://schemas.microsoft.com/office/drawing/2014/main" id="{62467EDC-ADD4-B9E1-2015-F8EC87D4F6CE}"/>
              </a:ext>
            </a:extLst>
          </p:cNvPr>
          <p:cNvSpPr txBox="1"/>
          <p:nvPr/>
        </p:nvSpPr>
        <p:spPr>
          <a:xfrm>
            <a:off x="624468" y="516405"/>
            <a:ext cx="364273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a:t>
            </a:r>
            <a:r>
              <a:rPr lang="en-IN" sz="2400" dirty="0">
                <a:latin typeface="Times New Roman" panose="02020603050405020304" pitchFamily="18" charset="0"/>
                <a:cs typeface="Times New Roman" panose="02020603050405020304" pitchFamily="18" charset="0"/>
              </a:rPr>
              <a:t>lass diagram</a:t>
            </a:r>
          </a:p>
        </p:txBody>
      </p:sp>
    </p:spTree>
    <p:extLst>
      <p:ext uri="{BB962C8B-B14F-4D97-AF65-F5344CB8AC3E}">
        <p14:creationId xmlns:p14="http://schemas.microsoft.com/office/powerpoint/2010/main" val="1330533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D0466977-E184-3AF6-4BDD-F0C5A728DB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330DFB-DA63-F892-B8F9-4FAF1C619AA1}"/>
              </a:ext>
            </a:extLst>
          </p:cNvPr>
          <p:cNvSpPr txBox="1"/>
          <p:nvPr/>
        </p:nvSpPr>
        <p:spPr>
          <a:xfrm>
            <a:off x="1077951" y="453067"/>
            <a:ext cx="364273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ER Diagram</a:t>
            </a:r>
          </a:p>
        </p:txBody>
      </p:sp>
      <p:pic>
        <p:nvPicPr>
          <p:cNvPr id="3" name="Picture 2">
            <a:extLst>
              <a:ext uri="{FF2B5EF4-FFF2-40B4-BE49-F238E27FC236}">
                <a16:creationId xmlns:a16="http://schemas.microsoft.com/office/drawing/2014/main" id="{EE9F1E5F-912A-7E39-19DB-592D2305CDDF}"/>
              </a:ext>
            </a:extLst>
          </p:cNvPr>
          <p:cNvPicPr>
            <a:picLocks noChangeAspect="1"/>
          </p:cNvPicPr>
          <p:nvPr/>
        </p:nvPicPr>
        <p:blipFill>
          <a:blip r:embed="rId3"/>
          <a:stretch>
            <a:fillRect/>
          </a:stretch>
        </p:blipFill>
        <p:spPr>
          <a:xfrm>
            <a:off x="618309" y="921167"/>
            <a:ext cx="7985760" cy="3769266"/>
          </a:xfrm>
          <a:prstGeom prst="rect">
            <a:avLst/>
          </a:prstGeom>
        </p:spPr>
      </p:pic>
    </p:spTree>
    <p:extLst>
      <p:ext uri="{BB962C8B-B14F-4D97-AF65-F5344CB8AC3E}">
        <p14:creationId xmlns:p14="http://schemas.microsoft.com/office/powerpoint/2010/main" val="944368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A730A32F-8BCA-0A8F-5B0F-B6A213F299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3E804E-91B0-CDBA-D9FC-757FD97B8DE4}"/>
              </a:ext>
            </a:extLst>
          </p:cNvPr>
          <p:cNvSpPr txBox="1"/>
          <p:nvPr/>
        </p:nvSpPr>
        <p:spPr>
          <a:xfrm>
            <a:off x="1077951" y="453067"/>
            <a:ext cx="364273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UML Diagram</a:t>
            </a:r>
          </a:p>
        </p:txBody>
      </p:sp>
      <p:pic>
        <p:nvPicPr>
          <p:cNvPr id="2" name="Picture 1">
            <a:extLst>
              <a:ext uri="{FF2B5EF4-FFF2-40B4-BE49-F238E27FC236}">
                <a16:creationId xmlns:a16="http://schemas.microsoft.com/office/drawing/2014/main" id="{416D937D-BBD4-F47F-6E2A-BAFA23B5C6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94114" y="1234496"/>
            <a:ext cx="5355772" cy="2859669"/>
          </a:xfrm>
          <a:prstGeom prst="rect">
            <a:avLst/>
          </a:prstGeom>
          <a:noFill/>
          <a:ln>
            <a:noFill/>
          </a:ln>
        </p:spPr>
      </p:pic>
    </p:spTree>
    <p:extLst>
      <p:ext uri="{BB962C8B-B14F-4D97-AF65-F5344CB8AC3E}">
        <p14:creationId xmlns:p14="http://schemas.microsoft.com/office/powerpoint/2010/main" val="1673737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E8D25723-455E-D9E4-76BF-5D98D6F87306}"/>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CBB2CDE2-BC82-A771-E67C-464F493AC939}"/>
              </a:ext>
            </a:extLst>
          </p:cNvPr>
          <p:cNvSpPr txBox="1">
            <a:spLocks noGrp="1"/>
          </p:cNvSpPr>
          <p:nvPr>
            <p:ph type="title"/>
          </p:nvPr>
        </p:nvSpPr>
        <p:spPr>
          <a:xfrm>
            <a:off x="795673" y="629570"/>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Analysis</a:t>
            </a:r>
          </a:p>
        </p:txBody>
      </p:sp>
      <p:grpSp>
        <p:nvGrpSpPr>
          <p:cNvPr id="1215" name="Google Shape;1215;p27">
            <a:extLst>
              <a:ext uri="{FF2B5EF4-FFF2-40B4-BE49-F238E27FC236}">
                <a16:creationId xmlns:a16="http://schemas.microsoft.com/office/drawing/2014/main" id="{2D939C7E-1754-EF72-EF93-0B5A1790AFF9}"/>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66EB6DCF-2719-8D7B-F3AA-A157655DDEB9}"/>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5F5CE523-0A06-819A-02C6-0AB7631401D7}"/>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220FCDC1-0D1E-4C5A-B729-7328C2A6C3F8}"/>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1379EF83-0255-F7F6-320D-E85A8C5FB2EA}"/>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2168764B-1B80-B707-7165-8E8158B7B1D3}"/>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B46850ED-CFD4-9AD6-7C7D-FFD786DD56F4}"/>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87DDD3E7-8BA5-B999-F61D-6300E33D1390}"/>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0CE84FBC-426C-6D42-8F5F-4BE6567F6C28}"/>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FEEA558F-884B-7D07-B6BE-2161DC0D4DCA}"/>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33BDFED1-5CA9-A02D-8A1A-5D68DD30D25B}"/>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F0E22902-0C2C-DA7F-22A3-F09512160216}"/>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0EA83664-EADF-949B-4009-ED946BFD86EC}"/>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C7066F49-4EA9-725A-83F5-ECD46EB03323}"/>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284C37E8-25E3-5646-5235-C1DF6BC4FA1C}"/>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ADD636EF-1384-1E6D-7A90-2257EF0B1428}"/>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AA260868-0D4B-89A5-26AF-E0A0576B5493}"/>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E07CFE88-CAD5-AE76-5C2F-53A950A3A8E5}"/>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85D9458C-5D6F-103B-99E7-23EB184B99C6}"/>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BF849C4B-6241-3B70-E162-8AFE7CE666C3}"/>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5E0B0350-B3A5-5F8C-9765-41C9C9757C7E}"/>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59C93783-4309-2180-E54B-080182AA753A}"/>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E9973616-B54F-C378-6CFF-6DD87ABB3EB3}"/>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E037AAD9-BD91-73CA-94FE-28F151BD9AF2}"/>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D0DC5AF0-5F83-301E-1B72-E6BF092D326A}"/>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E7BDC03B-22B7-98A3-3542-B4FCE748D03B}"/>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D77CCB40-3F67-437B-377F-10336D073327}"/>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FA716497-6B0F-27E3-95D0-B6500BCBF135}"/>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72633E5-F58C-1B3C-6069-143674DC1025}"/>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8CFB03D4-0DA1-43AA-DCEE-7AFEA4BC7DC8}"/>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73F8CD58-85FC-F896-23CA-5E8D7E574210}"/>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04860A16-9643-8D4E-7B51-77ADAA44DD5A}"/>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0B403467-2A2A-5458-3B64-CC07AA522BDD}"/>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8B1B0655-CEFE-B5CD-5872-36A6F5349137}"/>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1464552A-4596-14D5-F20B-B9C0B25A26D7}"/>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1F72A414-5F41-74EF-ADB5-F3D55ABFB4EE}"/>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A0AEFC0E-2DA2-6EDA-9874-550A98C5294B}"/>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2C366145-8D97-2C23-CBA8-3BF3F6606692}"/>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16D4CC70-0C12-75CF-8977-E02626E86374}"/>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FBBA2AEB-03E9-8929-23D8-6C41D3364FCB}"/>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8BCFD2B4-EF91-5345-55F2-EF66B56DA7B4}"/>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8EC4C151-D47A-2D35-5EFB-E45407922941}"/>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A467D0EF-DA3C-00AE-6D23-4BD066A9A65A}"/>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FB8725DB-E841-5D78-F192-AF34B9BBFF6F}"/>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6E5BEEF-AE44-5916-E98A-25B13F72C0B4}"/>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88CCABC4-C977-8141-7519-2BD06D62F46E}"/>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C86AC693-4B92-8B74-F9C2-232E7FB88313}"/>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6C924F4-54D3-D3B7-CE18-BB36B5972B15}"/>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6CF99174-A8DB-EF6A-344E-4E8149D86006}"/>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E785A379-55C9-83DC-78CE-8135A51BA90B}"/>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3C24A750-7DEE-1FBE-8527-5EF771F509FC}"/>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B4496C24-4E00-37B7-78FF-8839A5A91DF1}"/>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E8F96EA8-7265-8284-1209-47B9E86BB90B}"/>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E89B0CB9-1AD5-508C-727E-1442F3C58E5C}"/>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8E5B6736-5F46-B53D-E8BB-A39863213055}"/>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F7D7C98A-DCE7-A350-C62F-2D4A99FBC95C}"/>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42926947-E17F-48F4-CCED-23724475C535}"/>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A05CE7F2-2837-5A52-7D72-574465C811A0}"/>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B41E7C9F-F589-864A-4AD7-0BB64D030DA0}"/>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3A17062A-1F34-A0E0-7F4F-3BB134F06908}"/>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57A57959-ED01-3066-5EF7-7CE46159D1F6}"/>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CD5B358F-0565-DB50-0452-1E6DF1B24AC2}"/>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0C5DD326-59F9-89AF-0D47-EF299F626B32}"/>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938E3BD5-8B20-F775-E966-8D4A75BC2162}"/>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FFE31941-B5C2-EA49-0940-C9F6B6132D39}"/>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0A5AAD9A-DFC5-3FE2-A450-C88192BB96D8}"/>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E27A5480-EDDD-9A3B-D869-BC5AD312896F}"/>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DB5C5B3B-CFBE-C1CE-B051-75B0B95ECBB4}"/>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3637CB86-2AEA-09AB-A97B-4F25DF01616D}"/>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60A06B2C-45F7-87C9-CA27-5B67AF214D6A}"/>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1">
            <a:extLst>
              <a:ext uri="{FF2B5EF4-FFF2-40B4-BE49-F238E27FC236}">
                <a16:creationId xmlns:a16="http://schemas.microsoft.com/office/drawing/2014/main" id="{1FF59458-7A2E-1B5E-7C24-DBE9E4C6B6DF}"/>
              </a:ext>
            </a:extLst>
          </p:cNvPr>
          <p:cNvSpPr>
            <a:spLocks noGrp="1" noChangeArrowheads="1"/>
          </p:cNvSpPr>
          <p:nvPr>
            <p:ph type="subTitle" idx="1"/>
          </p:nvPr>
        </p:nvSpPr>
        <p:spPr bwMode="auto">
          <a:xfrm>
            <a:off x="698500" y="1368783"/>
            <a:ext cx="63752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Patient registration, appointments, EMR, billing, notifications.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Users/Roles: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Admin, Doctor, Nurse, Receptionist, Patient.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Flow: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Registration → Appointment → Treatment → Billing.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Feasibility: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Technically possible with web tech &amp; databases; cost-effective &amp; user-friendly.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Needs: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secure, and standardized patient and hospital data.</a:t>
            </a:r>
          </a:p>
        </p:txBody>
      </p:sp>
    </p:spTree>
    <p:extLst>
      <p:ext uri="{BB962C8B-B14F-4D97-AF65-F5344CB8AC3E}">
        <p14:creationId xmlns:p14="http://schemas.microsoft.com/office/powerpoint/2010/main" val="1374174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9E767AC0-8B4B-F5BA-E76E-A978A92874F3}"/>
              </a:ext>
            </a:extLst>
          </p:cNvPr>
          <p:cNvPicPr>
            <a:picLocks noGrp="1" noChangeAspect="1"/>
          </p:cNvPicPr>
          <p:nvPr>
            <p:ph type="pic" idx="2"/>
          </p:nvPr>
        </p:nvPicPr>
        <p:blipFill>
          <a:blip r:embed="rId2"/>
          <a:srcRect l="906" t="3672" r="2999" b="3389"/>
          <a:stretch>
            <a:fillRect/>
          </a:stretch>
        </p:blipFill>
        <p:spPr>
          <a:xfrm>
            <a:off x="475785" y="1226635"/>
            <a:ext cx="4096215" cy="2549912"/>
          </a:xfrm>
          <a:prstGeom prst="rect">
            <a:avLst/>
          </a:prstGeom>
          <a:noFill/>
          <a:ln>
            <a:noFill/>
          </a:ln>
        </p:spPr>
      </p:pic>
      <p:sp>
        <p:nvSpPr>
          <p:cNvPr id="6" name="TextBox 5">
            <a:extLst>
              <a:ext uri="{FF2B5EF4-FFF2-40B4-BE49-F238E27FC236}">
                <a16:creationId xmlns:a16="http://schemas.microsoft.com/office/drawing/2014/main" id="{E581584B-CC8A-A6CA-8C44-99BCA3ECAE61}"/>
              </a:ext>
            </a:extLst>
          </p:cNvPr>
          <p:cNvSpPr txBox="1"/>
          <p:nvPr/>
        </p:nvSpPr>
        <p:spPr>
          <a:xfrm>
            <a:off x="2282283" y="208156"/>
            <a:ext cx="5010615" cy="307777"/>
          </a:xfrm>
          <a:prstGeom prst="rect">
            <a:avLst/>
          </a:prstGeom>
          <a:noFill/>
        </p:spPr>
        <p:txBody>
          <a:bodyPr wrap="square" rtlCol="0">
            <a:spAutoFit/>
          </a:bodyPr>
          <a:lstStyle/>
          <a:p>
            <a:r>
              <a:rPr lang="en-IN" dirty="0"/>
              <a:t>Analysis Graphs</a:t>
            </a:r>
          </a:p>
        </p:txBody>
      </p:sp>
      <p:pic>
        <p:nvPicPr>
          <p:cNvPr id="8" name="Picture 7">
            <a:extLst>
              <a:ext uri="{FF2B5EF4-FFF2-40B4-BE49-F238E27FC236}">
                <a16:creationId xmlns:a16="http://schemas.microsoft.com/office/drawing/2014/main" id="{3D5E3A50-4102-A4B0-C727-4E6FF2329D52}"/>
              </a:ext>
            </a:extLst>
          </p:cNvPr>
          <p:cNvPicPr>
            <a:picLocks noChangeAspect="1"/>
          </p:cNvPicPr>
          <p:nvPr/>
        </p:nvPicPr>
        <p:blipFill>
          <a:blip r:embed="rId3"/>
          <a:stretch>
            <a:fillRect/>
          </a:stretch>
        </p:blipFill>
        <p:spPr>
          <a:xfrm>
            <a:off x="4905315" y="1226635"/>
            <a:ext cx="3762900" cy="2549912"/>
          </a:xfrm>
          <a:prstGeom prst="rect">
            <a:avLst/>
          </a:prstGeom>
        </p:spPr>
      </p:pic>
    </p:spTree>
    <p:extLst>
      <p:ext uri="{BB962C8B-B14F-4D97-AF65-F5344CB8AC3E}">
        <p14:creationId xmlns:p14="http://schemas.microsoft.com/office/powerpoint/2010/main" val="1217229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EE67-9765-486D-2119-A5289EFB655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0AE428-7A63-AC84-6C41-6E41DEE6F09B}"/>
              </a:ext>
            </a:extLst>
          </p:cNvPr>
          <p:cNvSpPr txBox="1"/>
          <p:nvPr/>
        </p:nvSpPr>
        <p:spPr>
          <a:xfrm>
            <a:off x="2282283" y="208156"/>
            <a:ext cx="5010615" cy="307777"/>
          </a:xfrm>
          <a:prstGeom prst="rect">
            <a:avLst/>
          </a:prstGeom>
          <a:noFill/>
        </p:spPr>
        <p:txBody>
          <a:bodyPr wrap="square" rtlCol="0">
            <a:spAutoFit/>
          </a:bodyPr>
          <a:lstStyle/>
          <a:p>
            <a:r>
              <a:rPr lang="en-IN" dirty="0"/>
              <a:t>Analysis Graphs</a:t>
            </a:r>
          </a:p>
        </p:txBody>
      </p:sp>
      <p:pic>
        <p:nvPicPr>
          <p:cNvPr id="7" name="Picture 6">
            <a:extLst>
              <a:ext uri="{FF2B5EF4-FFF2-40B4-BE49-F238E27FC236}">
                <a16:creationId xmlns:a16="http://schemas.microsoft.com/office/drawing/2014/main" id="{FB577770-4979-10DE-02CE-D0C30807D769}"/>
              </a:ext>
            </a:extLst>
          </p:cNvPr>
          <p:cNvPicPr>
            <a:picLocks noChangeAspect="1"/>
          </p:cNvPicPr>
          <p:nvPr/>
        </p:nvPicPr>
        <p:blipFill>
          <a:blip r:embed="rId2"/>
          <a:stretch>
            <a:fillRect/>
          </a:stretch>
        </p:blipFill>
        <p:spPr>
          <a:xfrm>
            <a:off x="579799" y="1531435"/>
            <a:ext cx="3791479" cy="2460701"/>
          </a:xfrm>
          <a:prstGeom prst="rect">
            <a:avLst/>
          </a:prstGeom>
        </p:spPr>
      </p:pic>
      <p:pic>
        <p:nvPicPr>
          <p:cNvPr id="10" name="Picture 9">
            <a:extLst>
              <a:ext uri="{FF2B5EF4-FFF2-40B4-BE49-F238E27FC236}">
                <a16:creationId xmlns:a16="http://schemas.microsoft.com/office/drawing/2014/main" id="{913B5421-EB33-F103-44F1-02F25AEC042E}"/>
              </a:ext>
            </a:extLst>
          </p:cNvPr>
          <p:cNvPicPr>
            <a:picLocks noChangeAspect="1"/>
          </p:cNvPicPr>
          <p:nvPr/>
        </p:nvPicPr>
        <p:blipFill>
          <a:blip r:embed="rId3"/>
          <a:stretch>
            <a:fillRect/>
          </a:stretch>
        </p:blipFill>
        <p:spPr>
          <a:xfrm>
            <a:off x="4861543" y="1531435"/>
            <a:ext cx="3896269" cy="2460701"/>
          </a:xfrm>
          <a:prstGeom prst="rect">
            <a:avLst/>
          </a:prstGeom>
        </p:spPr>
      </p:pic>
    </p:spTree>
    <p:extLst>
      <p:ext uri="{BB962C8B-B14F-4D97-AF65-F5344CB8AC3E}">
        <p14:creationId xmlns:p14="http://schemas.microsoft.com/office/powerpoint/2010/main" val="714641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375B3B35-EC04-F53D-1524-44F22816F1F9}"/>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E58953C0-87EE-DEA0-6060-4F9F6BDA1ECD}"/>
              </a:ext>
            </a:extLst>
          </p:cNvPr>
          <p:cNvSpPr txBox="1">
            <a:spLocks noGrp="1"/>
          </p:cNvSpPr>
          <p:nvPr>
            <p:ph type="title"/>
          </p:nvPr>
        </p:nvSpPr>
        <p:spPr>
          <a:xfrm>
            <a:off x="638829" y="-65104"/>
            <a:ext cx="7326186"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Source Code</a:t>
            </a:r>
          </a:p>
        </p:txBody>
      </p:sp>
      <p:pic>
        <p:nvPicPr>
          <p:cNvPr id="5" name="Picture 4">
            <a:extLst>
              <a:ext uri="{FF2B5EF4-FFF2-40B4-BE49-F238E27FC236}">
                <a16:creationId xmlns:a16="http://schemas.microsoft.com/office/drawing/2014/main" id="{4B3C736B-7736-C522-A232-F61053DFFA53}"/>
              </a:ext>
            </a:extLst>
          </p:cNvPr>
          <p:cNvPicPr>
            <a:picLocks noChangeAspect="1"/>
          </p:cNvPicPr>
          <p:nvPr/>
        </p:nvPicPr>
        <p:blipFill>
          <a:blip r:embed="rId3"/>
          <a:srcRect r="19563"/>
          <a:stretch>
            <a:fillRect/>
          </a:stretch>
        </p:blipFill>
        <p:spPr>
          <a:xfrm>
            <a:off x="752790" y="549662"/>
            <a:ext cx="3549132" cy="4044175"/>
          </a:xfrm>
          <a:prstGeom prst="rect">
            <a:avLst/>
          </a:prstGeom>
        </p:spPr>
      </p:pic>
      <p:pic>
        <p:nvPicPr>
          <p:cNvPr id="7" name="Picture 6">
            <a:extLst>
              <a:ext uri="{FF2B5EF4-FFF2-40B4-BE49-F238E27FC236}">
                <a16:creationId xmlns:a16="http://schemas.microsoft.com/office/drawing/2014/main" id="{2D0CDA57-1E9B-3F0D-ED8F-442B8B0E22D0}"/>
              </a:ext>
            </a:extLst>
          </p:cNvPr>
          <p:cNvPicPr>
            <a:picLocks noChangeAspect="1"/>
          </p:cNvPicPr>
          <p:nvPr/>
        </p:nvPicPr>
        <p:blipFill>
          <a:blip r:embed="rId4"/>
          <a:srcRect r="8326"/>
          <a:stretch>
            <a:fillRect/>
          </a:stretch>
        </p:blipFill>
        <p:spPr>
          <a:xfrm>
            <a:off x="4641359" y="549661"/>
            <a:ext cx="3437617" cy="4044175"/>
          </a:xfrm>
          <a:prstGeom prst="rect">
            <a:avLst/>
          </a:prstGeom>
        </p:spPr>
      </p:pic>
    </p:spTree>
    <p:extLst>
      <p:ext uri="{BB962C8B-B14F-4D97-AF65-F5344CB8AC3E}">
        <p14:creationId xmlns:p14="http://schemas.microsoft.com/office/powerpoint/2010/main" val="1731341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CD10568B-D98C-A572-B591-2FF8CCAE780F}"/>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B40FE652-D95D-BD26-F0D6-B91A183BFE1C}"/>
              </a:ext>
            </a:extLst>
          </p:cNvPr>
          <p:cNvSpPr txBox="1">
            <a:spLocks noGrp="1"/>
          </p:cNvSpPr>
          <p:nvPr>
            <p:ph type="title"/>
          </p:nvPr>
        </p:nvSpPr>
        <p:spPr>
          <a:xfrm>
            <a:off x="638829" y="-65104"/>
            <a:ext cx="7326186"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Source Code</a:t>
            </a:r>
          </a:p>
        </p:txBody>
      </p:sp>
      <p:pic>
        <p:nvPicPr>
          <p:cNvPr id="3" name="Picture 2">
            <a:extLst>
              <a:ext uri="{FF2B5EF4-FFF2-40B4-BE49-F238E27FC236}">
                <a16:creationId xmlns:a16="http://schemas.microsoft.com/office/drawing/2014/main" id="{CF3667A1-F524-D37D-24C8-BB516FFB48BC}"/>
              </a:ext>
            </a:extLst>
          </p:cNvPr>
          <p:cNvPicPr>
            <a:picLocks noChangeAspect="1"/>
          </p:cNvPicPr>
          <p:nvPr/>
        </p:nvPicPr>
        <p:blipFill>
          <a:blip r:embed="rId3"/>
          <a:stretch>
            <a:fillRect/>
          </a:stretch>
        </p:blipFill>
        <p:spPr>
          <a:xfrm>
            <a:off x="691923" y="515009"/>
            <a:ext cx="3976721" cy="4113481"/>
          </a:xfrm>
          <a:prstGeom prst="rect">
            <a:avLst/>
          </a:prstGeom>
        </p:spPr>
      </p:pic>
      <p:pic>
        <p:nvPicPr>
          <p:cNvPr id="6" name="Picture 5">
            <a:extLst>
              <a:ext uri="{FF2B5EF4-FFF2-40B4-BE49-F238E27FC236}">
                <a16:creationId xmlns:a16="http://schemas.microsoft.com/office/drawing/2014/main" id="{B13E6406-10F7-377B-A5FA-6EB2363706A8}"/>
              </a:ext>
            </a:extLst>
          </p:cNvPr>
          <p:cNvPicPr>
            <a:picLocks noChangeAspect="1"/>
          </p:cNvPicPr>
          <p:nvPr/>
        </p:nvPicPr>
        <p:blipFill>
          <a:blip r:embed="rId4"/>
          <a:stretch>
            <a:fillRect/>
          </a:stretch>
        </p:blipFill>
        <p:spPr>
          <a:xfrm>
            <a:off x="4921479" y="515008"/>
            <a:ext cx="3583692" cy="4113481"/>
          </a:xfrm>
          <a:prstGeom prst="rect">
            <a:avLst/>
          </a:prstGeom>
        </p:spPr>
      </p:pic>
    </p:spTree>
    <p:extLst>
      <p:ext uri="{BB962C8B-B14F-4D97-AF65-F5344CB8AC3E}">
        <p14:creationId xmlns:p14="http://schemas.microsoft.com/office/powerpoint/2010/main" val="3895094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FD352031-A6BB-06A1-90A5-3ABD5E5BC48A}"/>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62DA93ED-2CC6-308E-0C3D-0A7AF6F72DAA}"/>
              </a:ext>
            </a:extLst>
          </p:cNvPr>
          <p:cNvSpPr txBox="1">
            <a:spLocks noGrp="1"/>
          </p:cNvSpPr>
          <p:nvPr>
            <p:ph type="title"/>
          </p:nvPr>
        </p:nvSpPr>
        <p:spPr>
          <a:xfrm>
            <a:off x="638829" y="-65104"/>
            <a:ext cx="7326186"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Source Code</a:t>
            </a:r>
          </a:p>
        </p:txBody>
      </p:sp>
      <p:pic>
        <p:nvPicPr>
          <p:cNvPr id="4" name="Picture 3">
            <a:extLst>
              <a:ext uri="{FF2B5EF4-FFF2-40B4-BE49-F238E27FC236}">
                <a16:creationId xmlns:a16="http://schemas.microsoft.com/office/drawing/2014/main" id="{50ED3FAE-B4E0-727D-EFF7-8CF6F019FDAB}"/>
              </a:ext>
            </a:extLst>
          </p:cNvPr>
          <p:cNvPicPr>
            <a:picLocks noChangeAspect="1"/>
          </p:cNvPicPr>
          <p:nvPr/>
        </p:nvPicPr>
        <p:blipFill>
          <a:blip r:embed="rId3"/>
          <a:stretch>
            <a:fillRect/>
          </a:stretch>
        </p:blipFill>
        <p:spPr>
          <a:xfrm>
            <a:off x="2265037" y="575996"/>
            <a:ext cx="4073769" cy="3966268"/>
          </a:xfrm>
          <a:prstGeom prst="rect">
            <a:avLst/>
          </a:prstGeom>
        </p:spPr>
      </p:pic>
    </p:spTree>
    <p:extLst>
      <p:ext uri="{BB962C8B-B14F-4D97-AF65-F5344CB8AC3E}">
        <p14:creationId xmlns:p14="http://schemas.microsoft.com/office/powerpoint/2010/main" val="3245471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57C89703-3DAF-84E3-54D8-C686A6EE525D}"/>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160390B7-7C5F-2963-DA59-C6BBA1C1C75A}"/>
              </a:ext>
            </a:extLst>
          </p:cNvPr>
          <p:cNvSpPr txBox="1">
            <a:spLocks noGrp="1"/>
          </p:cNvSpPr>
          <p:nvPr>
            <p:ph type="title"/>
          </p:nvPr>
        </p:nvSpPr>
        <p:spPr>
          <a:xfrm>
            <a:off x="722728" y="590330"/>
            <a:ext cx="7326186"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Conclusion and Future scope</a:t>
            </a:r>
          </a:p>
        </p:txBody>
      </p:sp>
      <p:grpSp>
        <p:nvGrpSpPr>
          <p:cNvPr id="1215" name="Google Shape;1215;p27">
            <a:extLst>
              <a:ext uri="{FF2B5EF4-FFF2-40B4-BE49-F238E27FC236}">
                <a16:creationId xmlns:a16="http://schemas.microsoft.com/office/drawing/2014/main" id="{21D44EC8-5B29-21DE-449D-E8314FFE90AA}"/>
              </a:ext>
            </a:extLst>
          </p:cNvPr>
          <p:cNvGrpSpPr/>
          <p:nvPr/>
        </p:nvGrpSpPr>
        <p:grpSpPr>
          <a:xfrm>
            <a:off x="7075690" y="2936503"/>
            <a:ext cx="1466650" cy="1625713"/>
            <a:chOff x="6964178" y="2817557"/>
            <a:chExt cx="1466650" cy="1625713"/>
          </a:xfrm>
        </p:grpSpPr>
        <p:sp>
          <p:nvSpPr>
            <p:cNvPr id="1216" name="Google Shape;1216;p27">
              <a:extLst>
                <a:ext uri="{FF2B5EF4-FFF2-40B4-BE49-F238E27FC236}">
                  <a16:creationId xmlns:a16="http://schemas.microsoft.com/office/drawing/2014/main" id="{E1241145-5A64-4CC4-E1E2-4EAE2AFA4422}"/>
                </a:ext>
              </a:extLst>
            </p:cNvPr>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09D18AFA-79ED-27A8-5794-EC580735D873}"/>
                </a:ext>
              </a:extLst>
            </p:cNvPr>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C1AD8843-7C77-D3E6-455B-0F7079F0B0B5}"/>
                </a:ext>
              </a:extLst>
            </p:cNvPr>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90856991-8A71-64E2-819D-D8A5456ECD94}"/>
                </a:ext>
              </a:extLst>
            </p:cNvPr>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C78D24E4-4B59-982A-0390-FFC57D07C6D4}"/>
                </a:ext>
              </a:extLst>
            </p:cNvPr>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DD41C282-055A-2326-9D94-A5C624B12610}"/>
                </a:ext>
              </a:extLst>
            </p:cNvPr>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194BA9D8-CA2C-05B1-2905-31FA6A99B076}"/>
                </a:ext>
              </a:extLst>
            </p:cNvPr>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061E7D1F-93EC-1369-20E9-072FD7A4B167}"/>
                </a:ext>
              </a:extLst>
            </p:cNvPr>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2FB9BDC4-00F0-0112-7EF0-C4EB3E0EA1F8}"/>
                </a:ext>
              </a:extLst>
            </p:cNvPr>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20557C2A-A6F2-43C4-D0AF-16315EF64141}"/>
                </a:ext>
              </a:extLst>
            </p:cNvPr>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E2D7EF22-1BE6-ED68-A3AE-1CCF6E533ABF}"/>
                </a:ext>
              </a:extLst>
            </p:cNvPr>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ECF927C8-A127-3FF0-82C9-E73F186B129C}"/>
                </a:ext>
              </a:extLst>
            </p:cNvPr>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A94D412A-22FA-A189-912A-700B6034F8FF}"/>
                </a:ext>
              </a:extLst>
            </p:cNvPr>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6134D9B8-1040-E50D-A428-13957A7749DD}"/>
                </a:ext>
              </a:extLst>
            </p:cNvPr>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9D48AE4F-8E1C-7D61-9444-C6E3A833BDE8}"/>
                </a:ext>
              </a:extLst>
            </p:cNvPr>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89300C10-8C39-1B1E-0EAB-4965EB016F51}"/>
                </a:ext>
              </a:extLst>
            </p:cNvPr>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9A2D94D7-8327-D8D8-62D1-A0F71C679C32}"/>
                </a:ext>
              </a:extLst>
            </p:cNvPr>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C2DFB4FD-0A66-8184-8610-A27404AB38C5}"/>
                </a:ext>
              </a:extLst>
            </p:cNvPr>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F28E6A75-549A-A497-D680-C65FB61D90C1}"/>
                </a:ext>
              </a:extLst>
            </p:cNvPr>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927248AD-CB3D-5725-EA84-E57688D266A4}"/>
                </a:ext>
              </a:extLst>
            </p:cNvPr>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6CED2005-C3B8-8E4F-B23E-578038F8EBB4}"/>
                </a:ext>
              </a:extLst>
            </p:cNvPr>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D9C03AF0-6B3D-DB39-AA16-6CA0726702BB}"/>
                </a:ext>
              </a:extLst>
            </p:cNvPr>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96596BBF-F04C-BAE5-EE28-79BC2746B3CB}"/>
                </a:ext>
              </a:extLst>
            </p:cNvPr>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1AC488FA-A5F3-1C5F-581A-271DB1B16A24}"/>
                </a:ext>
              </a:extLst>
            </p:cNvPr>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DC2F1114-AA4A-1CA4-37D2-D3A26795100C}"/>
                </a:ext>
              </a:extLst>
            </p:cNvPr>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84E75956-FACA-DC61-B047-90E7E493B0B0}"/>
                </a:ext>
              </a:extLst>
            </p:cNvPr>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42D37CC3-F918-3267-3DFC-8FE26EB3D623}"/>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F7643C1E-1842-614A-C93D-B8498267173E}"/>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564B164C-98F5-219D-2D7A-CFE790047392}"/>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22CDFDDC-195D-2086-FC53-BA2E812BD050}"/>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7BA6023A-D646-D9CE-D298-B4AC92443F18}"/>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989BD2AF-FDE5-6345-40F4-033B445FAD14}"/>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62E16A65-B68F-086F-E105-5E018DB64FAF}"/>
                </a:ext>
              </a:extLst>
            </p:cNvPr>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A76B6809-F3A5-A938-94BE-C2EC3153FEB8}"/>
                </a:ext>
              </a:extLst>
            </p:cNvPr>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7E97E837-2069-3EB0-E567-405FBE233BAD}"/>
                </a:ext>
              </a:extLst>
            </p:cNvPr>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C026C8D7-D120-0468-B950-1931DEE9BC50}"/>
                </a:ext>
              </a:extLst>
            </p:cNvPr>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226AEF0D-2845-37AE-8939-96BE9995D198}"/>
                </a:ext>
              </a:extLst>
            </p:cNvPr>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BC07DD8C-D74F-5FDA-91E8-FE6ABB4C528B}"/>
                </a:ext>
              </a:extLst>
            </p:cNvPr>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28C7EA1A-7978-CA67-F0FD-5071B72FD52A}"/>
                </a:ext>
              </a:extLst>
            </p:cNvPr>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D820A285-509B-4151-7AFD-175F96F221A4}"/>
                </a:ext>
              </a:extLst>
            </p:cNvPr>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4575520A-EBB4-A1E1-6F72-5A7AF7596D32}"/>
                </a:ext>
              </a:extLst>
            </p:cNvPr>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ED82AF06-34E2-4DA9-F5CB-65327556D1FB}"/>
                </a:ext>
              </a:extLst>
            </p:cNvPr>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01D82F9F-28D9-F04D-E986-ABBCF9C89205}"/>
                </a:ext>
              </a:extLst>
            </p:cNvPr>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6F2D69FA-2579-8697-5761-FAE22B7B4B1D}"/>
                </a:ext>
              </a:extLst>
            </p:cNvPr>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365E9B6B-93E5-1ECD-CE6D-0856C6EDC8D5}"/>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244C0011-EC33-44CD-29D6-6A9C73CF48A0}"/>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222D57AC-18AA-CD69-2DC3-9B47B12E5EED}"/>
                </a:ext>
              </a:extLst>
            </p:cNvPr>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A70E69A8-24FA-699C-AD21-9836931B50FB}"/>
                </a:ext>
              </a:extLst>
            </p:cNvPr>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1BCC067F-E2ED-9273-2577-1E07E6A35CF0}"/>
                </a:ext>
              </a:extLst>
            </p:cNvPr>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E302AEBC-5FAB-D33C-1214-137E8C48FFF3}"/>
                </a:ext>
              </a:extLst>
            </p:cNvPr>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1D0ACE12-1358-97F7-4F88-C1200278AB85}"/>
                </a:ext>
              </a:extLst>
            </p:cNvPr>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47ABA34B-7D4B-32AF-D42F-EF524F44194F}"/>
                </a:ext>
              </a:extLst>
            </p:cNvPr>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0CC55B9F-5C0D-18A7-1273-63A1B4172E7A}"/>
                </a:ext>
              </a:extLst>
            </p:cNvPr>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E9AEF107-4D69-6656-36EA-03567C3410C0}"/>
                </a:ext>
              </a:extLst>
            </p:cNvPr>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97BAF4B0-19E0-DE1D-977F-575C38ADA3E5}"/>
                </a:ext>
              </a:extLst>
            </p:cNvPr>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3CDE1054-F3D1-6437-BB86-72FC67330A30}"/>
                </a:ext>
              </a:extLst>
            </p:cNvPr>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2F65FCAC-3682-70C6-1A8C-ECD62F360D94}"/>
                </a:ext>
              </a:extLst>
            </p:cNvPr>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E4E67175-68F4-4D70-90E4-D9B62707E42E}"/>
                </a:ext>
              </a:extLst>
            </p:cNvPr>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80E0E373-8A1B-4EB5-EAC7-6CDDE0C0BCCE}"/>
                </a:ext>
              </a:extLst>
            </p:cNvPr>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54870D6B-59BD-99F7-4F12-1DF00661ECA9}"/>
                </a:ext>
              </a:extLst>
            </p:cNvPr>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9D55825C-214B-8721-7D6A-BF235AA2AE46}"/>
                </a:ext>
              </a:extLst>
            </p:cNvPr>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4A4E0DA1-179A-7C2B-736B-EDA542B55E6A}"/>
                </a:ext>
              </a:extLst>
            </p:cNvPr>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D60CE0C3-491B-D0D2-6AFE-B3DD228AB708}"/>
                </a:ext>
              </a:extLst>
            </p:cNvPr>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E783CED1-A7AD-2ABD-9D3B-49822AD65147}"/>
                </a:ext>
              </a:extLst>
            </p:cNvPr>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849BDCC0-FD36-2CB9-0402-5EBB7A97FA11}"/>
                </a:ext>
              </a:extLst>
            </p:cNvPr>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88A58251-4F9E-8350-6F01-9E560770B7AB}"/>
                </a:ext>
              </a:extLst>
            </p:cNvPr>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6923D313-8B4A-B501-B4EE-B3639504089C}"/>
                </a:ext>
              </a:extLst>
            </p:cNvPr>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D449B8CB-857D-AA24-5E88-A50485770F69}"/>
                </a:ext>
              </a:extLst>
            </p:cNvPr>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66B69F68-A03E-DDFA-A0A4-0DD5163582C2}"/>
                </a:ext>
              </a:extLst>
            </p:cNvPr>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a:extLst>
              <a:ext uri="{FF2B5EF4-FFF2-40B4-BE49-F238E27FC236}">
                <a16:creationId xmlns:a16="http://schemas.microsoft.com/office/drawing/2014/main" id="{0663E794-97F3-5B98-72FB-16407C492412}"/>
              </a:ext>
            </a:extLst>
          </p:cNvPr>
          <p:cNvSpPr>
            <a:spLocks noGrp="1" noChangeArrowheads="1"/>
          </p:cNvSpPr>
          <p:nvPr>
            <p:ph type="subTitle" idx="1"/>
          </p:nvPr>
        </p:nvSpPr>
        <p:spPr bwMode="auto">
          <a:xfrm>
            <a:off x="550754" y="1241784"/>
            <a:ext cx="6761738"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cs typeface="Times New Roman" panose="02020603050405020304" pitchFamily="18" charset="0"/>
              </a:rPr>
              <a:t>Conclusion:</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Developed a secure and efficient Hospital Patient Management System.</a:t>
            </a:r>
          </a:p>
          <a:p>
            <a:pPr lvl="1"/>
            <a:r>
              <a:rPr lang="en-US" sz="1600" dirty="0">
                <a:latin typeface="Times New Roman" panose="02020603050405020304" pitchFamily="18" charset="0"/>
                <a:cs typeface="Times New Roman" panose="02020603050405020304" pitchFamily="18" charset="0"/>
              </a:rPr>
              <a:t>Streamlined registration, appointment, treatment, and billing processes.</a:t>
            </a:r>
          </a:p>
          <a:p>
            <a:pPr lvl="1"/>
            <a:r>
              <a:rPr lang="en-US" sz="1600" dirty="0">
                <a:latin typeface="Times New Roman" panose="02020603050405020304" pitchFamily="18" charset="0"/>
                <a:cs typeface="Times New Roman" panose="02020603050405020304" pitchFamily="18" charset="0"/>
              </a:rPr>
              <a:t>Improved data accuracy and reduced manual errors through automation.</a:t>
            </a:r>
          </a:p>
          <a:p>
            <a:pPr lvl="1"/>
            <a:r>
              <a:rPr lang="en-US" sz="1600" dirty="0">
                <a:latin typeface="Times New Roman" panose="02020603050405020304" pitchFamily="18" charset="0"/>
                <a:cs typeface="Times New Roman" panose="02020603050405020304" pitchFamily="18" charset="0"/>
              </a:rPr>
              <a:t>Enabled timely alerts for critical updates, enhancing patient care.</a:t>
            </a:r>
          </a:p>
          <a:p>
            <a:r>
              <a:rPr lang="en-US" sz="1600" b="1" dirty="0">
                <a:latin typeface="Times New Roman" panose="02020603050405020304" pitchFamily="18" charset="0"/>
                <a:cs typeface="Times New Roman" panose="02020603050405020304" pitchFamily="18" charset="0"/>
              </a:rPr>
              <a:t>Future Scope:</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Integration with IoT devices for real-time patient monitoring.</a:t>
            </a:r>
          </a:p>
          <a:p>
            <a:pPr lvl="1"/>
            <a:r>
              <a:rPr lang="en-US" sz="1600" dirty="0">
                <a:latin typeface="Times New Roman" panose="02020603050405020304" pitchFamily="18" charset="0"/>
                <a:cs typeface="Times New Roman" panose="02020603050405020304" pitchFamily="18" charset="0"/>
              </a:rPr>
              <a:t>AI-based analytics for predicting patient needs and optimizing resources.</a:t>
            </a:r>
          </a:p>
          <a:p>
            <a:pPr lvl="1"/>
            <a:r>
              <a:rPr lang="en-US" sz="1600" dirty="0">
                <a:latin typeface="Times New Roman" panose="02020603050405020304" pitchFamily="18" charset="0"/>
                <a:cs typeface="Times New Roman" panose="02020603050405020304" pitchFamily="18" charset="0"/>
              </a:rPr>
              <a:t>Cloud deployment for scalability across multiple hospital branches.</a:t>
            </a:r>
          </a:p>
          <a:p>
            <a:pPr lvl="1"/>
            <a:r>
              <a:rPr lang="en-US" sz="1600" dirty="0">
                <a:latin typeface="Times New Roman" panose="02020603050405020304" pitchFamily="18" charset="0"/>
                <a:cs typeface="Times New Roman" panose="02020603050405020304" pitchFamily="18" charset="0"/>
              </a:rPr>
              <a:t>Multi-language support and mobile app for wider accessibility.</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700" i="0" u="none" strike="noStrike" cap="none" normalizeH="0" baseline="0" dirty="0">
              <a:ln>
                <a:noFill/>
              </a:ln>
              <a:solidFill>
                <a:schemeClr val="bg2">
                  <a:lumMod val="75000"/>
                </a:schemeClr>
              </a:solidFill>
              <a:effectLst/>
              <a:latin typeface="Arial" panose="020B0604020202020204" pitchFamily="34" charset="0"/>
            </a:endParaRPr>
          </a:p>
        </p:txBody>
      </p:sp>
    </p:spTree>
    <p:extLst>
      <p:ext uri="{BB962C8B-B14F-4D97-AF65-F5344CB8AC3E}">
        <p14:creationId xmlns:p14="http://schemas.microsoft.com/office/powerpoint/2010/main" val="1273486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D4A5B3-592B-FA60-0C23-FA5EF36EC5E2}"/>
              </a:ext>
            </a:extLst>
          </p:cNvPr>
          <p:cNvSpPr txBox="1"/>
          <p:nvPr/>
        </p:nvSpPr>
        <p:spPr>
          <a:xfrm>
            <a:off x="5531005" y="1152293"/>
            <a:ext cx="3731941" cy="461665"/>
          </a:xfrm>
          <a:prstGeom prst="rect">
            <a:avLst/>
          </a:prstGeom>
          <a:noFill/>
        </p:spPr>
        <p:txBody>
          <a:bodyPr wrap="square" rtlCol="0">
            <a:spAutoFit/>
          </a:bodyPr>
          <a:lstStyle/>
          <a:p>
            <a:r>
              <a:rPr lang="en-IN" sz="2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Thank You</a:t>
            </a:r>
          </a:p>
        </p:txBody>
      </p:sp>
      <p:sp>
        <p:nvSpPr>
          <p:cNvPr id="3" name="TextBox 2">
            <a:extLst>
              <a:ext uri="{FF2B5EF4-FFF2-40B4-BE49-F238E27FC236}">
                <a16:creationId xmlns:a16="http://schemas.microsoft.com/office/drawing/2014/main" id="{54F7A618-9F53-2CC2-1FDD-DF233EB99306}"/>
              </a:ext>
            </a:extLst>
          </p:cNvPr>
          <p:cNvSpPr txBox="1"/>
          <p:nvPr/>
        </p:nvSpPr>
        <p:spPr>
          <a:xfrm>
            <a:off x="4572000" y="2103863"/>
            <a:ext cx="3665034" cy="1169551"/>
          </a:xfrm>
          <a:prstGeom prst="rect">
            <a:avLst/>
          </a:prstGeom>
          <a:noFill/>
        </p:spPr>
        <p:txBody>
          <a:bodyPr wrap="square" rtlCol="0">
            <a:spAutoFit/>
          </a:bodyPr>
          <a:lstStyle/>
          <a:p>
            <a:r>
              <a:rPr lang="en-IN" dirty="0">
                <a:solidFill>
                  <a:schemeClr val="bg2"/>
                </a:solidFill>
              </a:rPr>
              <a:t>2410030076 – Kodali Naga Sreeja</a:t>
            </a:r>
          </a:p>
          <a:p>
            <a:r>
              <a:rPr lang="en-IN" dirty="0">
                <a:solidFill>
                  <a:schemeClr val="bg2"/>
                </a:solidFill>
              </a:rPr>
              <a:t>2410030228 – </a:t>
            </a:r>
            <a:r>
              <a:rPr lang="en-IN" dirty="0" err="1">
                <a:solidFill>
                  <a:schemeClr val="bg2"/>
                </a:solidFill>
              </a:rPr>
              <a:t>Bijju</a:t>
            </a:r>
            <a:r>
              <a:rPr lang="en-IN" dirty="0">
                <a:solidFill>
                  <a:schemeClr val="bg2"/>
                </a:solidFill>
              </a:rPr>
              <a:t> Adithi Yadav</a:t>
            </a:r>
          </a:p>
          <a:p>
            <a:r>
              <a:rPr lang="en-IN" dirty="0">
                <a:solidFill>
                  <a:schemeClr val="bg2"/>
                </a:solidFill>
              </a:rPr>
              <a:t>2410030229 – Likitha Thumma</a:t>
            </a:r>
          </a:p>
          <a:p>
            <a:r>
              <a:rPr lang="en-IN" dirty="0">
                <a:solidFill>
                  <a:schemeClr val="bg2"/>
                </a:solidFill>
              </a:rPr>
              <a:t>2410030232 – H. Esha Manogna</a:t>
            </a:r>
          </a:p>
          <a:p>
            <a:r>
              <a:rPr lang="en-IN" dirty="0">
                <a:solidFill>
                  <a:schemeClr val="bg2"/>
                </a:solidFill>
              </a:rPr>
              <a:t>2410030430 – </a:t>
            </a:r>
            <a:r>
              <a:rPr lang="en-IN" dirty="0" err="1">
                <a:solidFill>
                  <a:schemeClr val="bg2"/>
                </a:solidFill>
              </a:rPr>
              <a:t>Malreddy</a:t>
            </a:r>
            <a:r>
              <a:rPr lang="en-IN" dirty="0">
                <a:solidFill>
                  <a:schemeClr val="bg2"/>
                </a:solidFill>
              </a:rPr>
              <a:t> Manogna</a:t>
            </a:r>
          </a:p>
        </p:txBody>
      </p:sp>
    </p:spTree>
    <p:extLst>
      <p:ext uri="{BB962C8B-B14F-4D97-AF65-F5344CB8AC3E}">
        <p14:creationId xmlns:p14="http://schemas.microsoft.com/office/powerpoint/2010/main" val="4010390385"/>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951</Words>
  <Application>Microsoft Office PowerPoint</Application>
  <PresentationFormat>On-screen Show (16:9)</PresentationFormat>
  <Paragraphs>118</Paragraphs>
  <Slides>24</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Open Sans</vt:lpstr>
      <vt:lpstr>Times New Roman</vt:lpstr>
      <vt:lpstr>Calibri</vt:lpstr>
      <vt:lpstr>Arial</vt:lpstr>
      <vt:lpstr>Sora</vt:lpstr>
      <vt:lpstr>Software Engineering Business Plan by Slidesgo</vt:lpstr>
      <vt:lpstr>PowerPoint Presentation</vt:lpstr>
      <vt:lpstr>Introduction</vt:lpstr>
      <vt:lpstr>PowerPoint Presentation</vt:lpstr>
      <vt:lpstr>PowerPoint Presentation</vt:lpstr>
      <vt:lpstr>Literature review</vt:lpstr>
      <vt:lpstr>Literature review</vt:lpstr>
      <vt:lpstr>Research Gaps</vt:lpstr>
      <vt:lpstr>Hypothesis</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vt:lpstr>
      <vt:lpstr>PowerPoint Presentation</vt:lpstr>
      <vt:lpstr>PowerPoint Presentation</vt:lpstr>
      <vt:lpstr>Source Code</vt:lpstr>
      <vt:lpstr>Source Code</vt:lpstr>
      <vt:lpstr>Source Code</vt:lpstr>
      <vt:lpstr>Conclusion and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Manogna</dc:creator>
  <cp:lastModifiedBy>Naga Sreeja Kodali</cp:lastModifiedBy>
  <cp:revision>11</cp:revision>
  <dcterms:modified xsi:type="dcterms:W3CDTF">2025-09-15T04:25:59Z</dcterms:modified>
</cp:coreProperties>
</file>