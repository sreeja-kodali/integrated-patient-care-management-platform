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3" r:id="rId7"/>
    <p:sldId id="261" r:id="rId8"/>
    <p:sldId id="262" r:id="rId9"/>
    <p:sldId id="264"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0" d="100"/>
          <a:sy n="70" d="100"/>
        </p:scale>
        <p:origin x="118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347" y="1122363"/>
            <a:ext cx="7773308"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685347" y="3602038"/>
            <a:ext cx="7773308"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6334564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8805700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21933" y="657227"/>
            <a:ext cx="7300134"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921933" y="3602039"/>
            <a:ext cx="7300134"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911609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1"/>
            <a:ext cx="776532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85346" y="2088320"/>
            <a:ext cx="3829503"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30052" y="2088320"/>
            <a:ext cx="3820616"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160407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1"/>
            <a:ext cx="776532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5427" y="2088320"/>
            <a:ext cx="3600326"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346" y="2912232"/>
            <a:ext cx="3830406"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59230" y="2088320"/>
            <a:ext cx="3591437"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912232"/>
            <a:ext cx="382151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8/18/2025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796171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8/18/2025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23578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2544716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7921" y="609600"/>
            <a:ext cx="2949178"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3808548" y="609600"/>
            <a:ext cx="4642119"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7921" y="2971801"/>
            <a:ext cx="2949178"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215472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7921" y="609600"/>
            <a:ext cx="416760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49932" y="758881"/>
            <a:ext cx="2966938"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2971800"/>
            <a:ext cx="4171242"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472191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55" y="4289373"/>
            <a:ext cx="7775673"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355" y="621322"/>
            <a:ext cx="7775673"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5108728"/>
            <a:ext cx="7774499"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5489653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6" y="609601"/>
            <a:ext cx="776532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47" y="4204820"/>
            <a:ext cx="776532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49080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2"/>
            <a:ext cx="6564224"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345" y="4204821"/>
            <a:ext cx="776532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10" name="TextBox 9"/>
          <p:cNvSpPr txBox="1"/>
          <p:nvPr/>
        </p:nvSpPr>
        <p:spPr>
          <a:xfrm>
            <a:off x="505245" y="641749"/>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7946721" y="3073376"/>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905794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355" y="2126943"/>
            <a:ext cx="7766495"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46" y="4650556"/>
            <a:ext cx="776532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062205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345" y="609601"/>
            <a:ext cx="776532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46" y="2088320"/>
            <a:ext cx="2474217"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346" y="2911624"/>
            <a:ext cx="2474217"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33658" y="2088320"/>
            <a:ext cx="2473919"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33659" y="2911624"/>
            <a:ext cx="247486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79974" y="2088320"/>
            <a:ext cx="246840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2260" y="2911624"/>
            <a:ext cx="2468408"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8/18/2025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780228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346" y="609601"/>
            <a:ext cx="776532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47" y="3989147"/>
            <a:ext cx="2474216"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819015" y="2092235"/>
            <a:ext cx="2205038"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5347" y="4565409"/>
            <a:ext cx="2474216" cy="122579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32026" y="3989147"/>
            <a:ext cx="2474237"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426747" y="2092235"/>
            <a:ext cx="2197894"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331011" y="4565408"/>
            <a:ext cx="2475252" cy="122579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80067" y="3989147"/>
            <a:ext cx="246742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6114603" y="2092235"/>
            <a:ext cx="219908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79973" y="4565410"/>
            <a:ext cx="2470694" cy="122579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8/18/2025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234112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9408570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609600"/>
            <a:ext cx="1906993"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85346" y="609600"/>
            <a:ext cx="5744029"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67880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duotone>
              <a:schemeClr val="bg2">
                <a:shade val="18000"/>
                <a:satMod val="160000"/>
                <a:lumMod val="28000"/>
              </a:schemeClr>
              <a:schemeClr val="bg2">
                <a:tint val="95000"/>
                <a:satMod val="160000"/>
                <a:lumMod val="116000"/>
              </a:schemeClr>
            </a:duotone>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7" y="609601"/>
            <a:ext cx="776532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46" y="2096064"/>
            <a:ext cx="776532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2" y="5883276"/>
            <a:ext cx="20574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5BCAD085-E8A6-8845-BD4E-CB4CCA059FC4}" type="datetimeFigureOut">
              <a:rPr lang="en-US" smtClean="0"/>
              <a:t>8/18/2025</a:t>
            </a:fld>
            <a:endParaRPr lang="en-US"/>
          </a:p>
        </p:txBody>
      </p:sp>
      <p:sp>
        <p:nvSpPr>
          <p:cNvPr id="5" name="Footer Placeholder 4"/>
          <p:cNvSpPr>
            <a:spLocks noGrp="1"/>
          </p:cNvSpPr>
          <p:nvPr>
            <p:ph type="ftr" sz="quarter" idx="3"/>
          </p:nvPr>
        </p:nvSpPr>
        <p:spPr>
          <a:xfrm>
            <a:off x="685346" y="5883276"/>
            <a:ext cx="5004649"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885509" y="5883276"/>
            <a:ext cx="565159"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11277315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51835" y="555586"/>
            <a:ext cx="4422294" cy="4271057"/>
          </a:xfrm>
        </p:spPr>
        <p:txBody>
          <a:bodyPr>
            <a:normAutofit/>
          </a:bodyPr>
          <a:lstStyle/>
          <a:p>
            <a:pPr>
              <a:lnSpc>
                <a:spcPct val="100000"/>
              </a:lnSpc>
            </a:pPr>
            <a:r>
              <a:rPr lang="en-IN" sz="4000"/>
              <a:t>Hospital Patient Management System</a:t>
            </a:r>
            <a:endParaRPr lang="en-IN" sz="4000" dirty="0"/>
          </a:p>
        </p:txBody>
      </p:sp>
      <p:pic>
        <p:nvPicPr>
          <p:cNvPr id="7" name="Graphic 6" descr="Stethoscope">
            <a:extLst>
              <a:ext uri="{FF2B5EF4-FFF2-40B4-BE49-F238E27FC236}">
                <a16:creationId xmlns:a16="http://schemas.microsoft.com/office/drawing/2014/main" id="{3B8A489B-ED0C-9BCB-9782-C1EE123F966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59052" y="1914043"/>
            <a:ext cx="2552075" cy="2552075"/>
          </a:xfrm>
          <a:prstGeom prst="rect">
            <a:avLst/>
          </a:prstGeom>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7"/>
                                        </p:tgtEl>
                                        <p:attrNameLst>
                                          <p:attrName>style.visibility</p:attrName>
                                        </p:attrNameLst>
                                      </p:cBhvr>
                                      <p:to>
                                        <p:strVal val="visible"/>
                                      </p:to>
                                    </p:set>
                                    <p:animEffect transition="in" filter="fade">
                                      <p:cBhvr>
                                        <p:cTn id="10"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C052280-388E-4151-A1EB-5236D4FCCA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5347" y="927100"/>
            <a:ext cx="2564074" cy="4616450"/>
          </a:xfrm>
        </p:spPr>
        <p:txBody>
          <a:bodyPr>
            <a:normAutofit/>
          </a:bodyPr>
          <a:lstStyle/>
          <a:p>
            <a:r>
              <a:rPr lang="en-IN" sz="3100"/>
              <a:t>Abstract</a:t>
            </a:r>
            <a:endParaRPr lang="en-IN" sz="3100" dirty="0"/>
          </a:p>
        </p:txBody>
      </p:sp>
      <p:cxnSp>
        <p:nvCxnSpPr>
          <p:cNvPr id="10" name="Straight Connector 9">
            <a:extLst>
              <a:ext uri="{FF2B5EF4-FFF2-40B4-BE49-F238E27FC236}">
                <a16:creationId xmlns:a16="http://schemas.microsoft.com/office/drawing/2014/main" id="{744251C3-E720-4363-8AF0-20AD319374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301359"/>
            <a:ext cx="0" cy="191135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732021" y="971549"/>
            <a:ext cx="4718646" cy="4616450"/>
          </a:xfrm>
        </p:spPr>
        <p:txBody>
          <a:bodyPr anchor="ctr">
            <a:normAutofit/>
          </a:bodyPr>
          <a:lstStyle/>
          <a:p>
            <a:r>
              <a:rPr lang="en-US" sz="2400" b="1"/>
              <a:t>The Hospital Patient Management System is designed to simplify patient registration, appointment scheduling, medical records management, and billing processes. It ensures accuracy, efficiency, and better coordination among doctors, staff, and patients.</a:t>
            </a:r>
            <a:endParaRPr lang="en-US" sz="2400" b="1"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FBA67F-0D4D-4C2E-A1D7-82D080A4B3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5346" y="609600"/>
            <a:ext cx="7765321" cy="1326321"/>
          </a:xfrm>
        </p:spPr>
        <p:txBody>
          <a:bodyPr>
            <a:normAutofit/>
          </a:bodyPr>
          <a:lstStyle/>
          <a:p>
            <a:r>
              <a:rPr dirty="0"/>
              <a:t>Problem Statement</a:t>
            </a:r>
          </a:p>
        </p:txBody>
      </p:sp>
      <p:sp>
        <p:nvSpPr>
          <p:cNvPr id="10" name="Rectangle 9">
            <a:extLst>
              <a:ext uri="{FF2B5EF4-FFF2-40B4-BE49-F238E27FC236}">
                <a16:creationId xmlns:a16="http://schemas.microsoft.com/office/drawing/2014/main" id="{EFA2AC96-1E47-421C-A03F-F98E354EB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95500"/>
            <a:ext cx="9144000" cy="4762500"/>
          </a:xfrm>
          <a:prstGeom prst="rect">
            <a:avLst/>
          </a:prstGeom>
          <a:solidFill>
            <a:schemeClr val="bg1">
              <a:alpha val="50000"/>
            </a:schemeClr>
          </a:solidFill>
          <a:ln>
            <a:noFill/>
          </a:ln>
        </p:spPr>
        <p:style>
          <a:lnRef idx="2">
            <a:schemeClr val="accent1">
              <a:shade val="50000"/>
            </a:schemeClr>
          </a:lnRef>
          <a:fillRef idx="1001">
            <a:schemeClr val="dk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00137" y="2463800"/>
            <a:ext cx="6935739" cy="3327400"/>
          </a:xfrm>
        </p:spPr>
        <p:txBody>
          <a:bodyPr>
            <a:normAutofit/>
          </a:bodyPr>
          <a:lstStyle/>
          <a:p>
            <a:r>
              <a:rPr lang="en-US" sz="2400" b="1"/>
              <a:t>Manual hospital processes such as patient registration, appointment handling, and records management are time-consuming, error-prone, and inefficient. There is a need for an automated system to manage hospital operations effectively.</a:t>
            </a:r>
            <a:endParaRPr lang="en-US" sz="2400" b="1"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B38859A-4AD9-4310-926C-1C615668C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5346" y="4922079"/>
            <a:ext cx="7765321" cy="1326321"/>
          </a:xfrm>
        </p:spPr>
        <p:txBody>
          <a:bodyPr>
            <a:normAutofit/>
          </a:bodyPr>
          <a:lstStyle/>
          <a:p>
            <a:r>
              <a:rPr lang="en-IN" dirty="0"/>
              <a:t>Introduction</a:t>
            </a:r>
          </a:p>
        </p:txBody>
      </p:sp>
      <p:sp>
        <p:nvSpPr>
          <p:cNvPr id="10" name="Rectangle 9">
            <a:extLst>
              <a:ext uri="{FF2B5EF4-FFF2-40B4-BE49-F238E27FC236}">
                <a16:creationId xmlns:a16="http://schemas.microsoft.com/office/drawing/2014/main" id="{EFA2AC96-1E47-421C-A03F-F98E354EB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4762500"/>
          </a:xfrm>
          <a:prstGeom prst="rect">
            <a:avLst/>
          </a:prstGeom>
          <a:solidFill>
            <a:schemeClr val="bg1">
              <a:alpha val="50000"/>
            </a:schemeClr>
          </a:solidFill>
          <a:ln>
            <a:noFill/>
          </a:ln>
        </p:spPr>
        <p:style>
          <a:lnRef idx="2">
            <a:schemeClr val="accent1">
              <a:shade val="50000"/>
            </a:schemeClr>
          </a:lnRef>
          <a:fillRef idx="1001">
            <a:schemeClr val="dk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90309" y="1066800"/>
            <a:ext cx="7697164" cy="3327400"/>
          </a:xfrm>
        </p:spPr>
        <p:txBody>
          <a:bodyPr anchor="ctr">
            <a:normAutofit/>
          </a:bodyPr>
          <a:lstStyle/>
          <a:p>
            <a:r>
              <a:rPr lang="en-US" sz="2400" b="1"/>
              <a:t>The Hospital Patient Management System is a software solution that provides a centralized platform for managing hospital operations. It improves efficiency by automating patient data handling, reduces paperwork, and enhances patient care through quick access to records.</a:t>
            </a:r>
            <a:endParaRPr lang="en-US" sz="2400" b="1"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Open doors">
            <a:extLst>
              <a:ext uri="{FF2B5EF4-FFF2-40B4-BE49-F238E27FC236}">
                <a16:creationId xmlns:a16="http://schemas.microsoft.com/office/drawing/2014/main" id="{A35F4B5C-2D66-B317-4B63-EFE1CF94CC45}"/>
              </a:ext>
            </a:extLst>
          </p:cNvPr>
          <p:cNvPicPr>
            <a:picLocks noChangeAspect="1"/>
          </p:cNvPicPr>
          <p:nvPr/>
        </p:nvPicPr>
        <p:blipFill>
          <a:blip r:embed="rId2">
            <a:alphaModFix amt="35000"/>
          </a:blip>
          <a:srcRect l="10974" r="1" b="1"/>
          <a:stretch>
            <a:fillRect/>
          </a:stretch>
        </p:blipFill>
        <p:spPr>
          <a:xfrm>
            <a:off x="20" y="2030"/>
            <a:ext cx="9143980" cy="6855970"/>
          </a:xfrm>
          <a:prstGeom prst="rect">
            <a:avLst/>
          </a:prstGeom>
        </p:spPr>
      </p:pic>
      <p:sp>
        <p:nvSpPr>
          <p:cNvPr id="9" name="Rectangle 8">
            <a:extLst>
              <a:ext uri="{FF2B5EF4-FFF2-40B4-BE49-F238E27FC236}">
                <a16:creationId xmlns:a16="http://schemas.microsoft.com/office/drawing/2014/main" id="{4DE0D6BE-330A-422D-9BD9-1E18F73C6E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flip="none" rotWithShape="1">
            <a:gsLst>
              <a:gs pos="32000">
                <a:schemeClr val="bg2">
                  <a:lumMod val="75000"/>
                  <a:alpha val="3000"/>
                </a:schemeClr>
              </a:gs>
              <a:gs pos="100000">
                <a:sysClr val="windowText" lastClr="000000">
                  <a:alpha val="70000"/>
                </a:sysClr>
              </a:gs>
            </a:gsLst>
            <a:path path="circle">
              <a:fillToRect l="50000" t="5000" r="50000" b="95000"/>
            </a:path>
            <a:tileRect/>
          </a:gra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 name="Title 1"/>
          <p:cNvSpPr>
            <a:spLocks noGrp="1"/>
          </p:cNvSpPr>
          <p:nvPr>
            <p:ph type="title"/>
          </p:nvPr>
        </p:nvSpPr>
        <p:spPr>
          <a:xfrm>
            <a:off x="685346" y="609600"/>
            <a:ext cx="7765321" cy="1326321"/>
          </a:xfrm>
        </p:spPr>
        <p:txBody>
          <a:bodyPr>
            <a:normAutofit/>
          </a:bodyPr>
          <a:lstStyle/>
          <a:p>
            <a:r>
              <a:rPr sz="6000" dirty="0"/>
              <a:t>Background</a:t>
            </a:r>
          </a:p>
        </p:txBody>
      </p:sp>
      <p:sp>
        <p:nvSpPr>
          <p:cNvPr id="3" name="Content Placeholder 2"/>
          <p:cNvSpPr>
            <a:spLocks noGrp="1"/>
          </p:cNvSpPr>
          <p:nvPr>
            <p:ph idx="1"/>
          </p:nvPr>
        </p:nvSpPr>
        <p:spPr>
          <a:xfrm>
            <a:off x="405114" y="2222340"/>
            <a:ext cx="8565266" cy="3923818"/>
          </a:xfrm>
        </p:spPr>
        <p:txBody>
          <a:bodyPr>
            <a:noAutofit/>
          </a:bodyPr>
          <a:lstStyle/>
          <a:p>
            <a:r>
              <a:rPr lang="en-IN" sz="1600" b="1" dirty="0"/>
              <a:t>Manual systems: registers, paper files → slow &amp; errors</a:t>
            </a:r>
          </a:p>
          <a:p>
            <a:r>
              <a:rPr lang="en-IN" sz="1600" b="1" dirty="0"/>
              <a:t>Semi-automated: basic software → no full hospital integration</a:t>
            </a:r>
          </a:p>
          <a:p>
            <a:r>
              <a:rPr lang="en-IN" sz="1600" b="1" dirty="0"/>
              <a:t>Integrated systems: connect patients, doctors, labs, pharmacy, billing</a:t>
            </a:r>
          </a:p>
          <a:p>
            <a:r>
              <a:rPr lang="en-IN" sz="1600" b="1" dirty="0"/>
              <a:t>Benefits: faster service, less paperwork, accurate records, cost savings</a:t>
            </a:r>
          </a:p>
          <a:p>
            <a:r>
              <a:rPr lang="en-IN" sz="1600" b="1" dirty="0"/>
              <a:t>Research shows: efficiency ↑ 30–40%, better patient satisfaction</a:t>
            </a:r>
          </a:p>
          <a:p>
            <a:r>
              <a:rPr lang="en-IN" sz="1600" b="1" dirty="0"/>
              <a:t>Challenges: high cost, training needs, data privacy &amp; security</a:t>
            </a:r>
          </a:p>
          <a:p>
            <a:r>
              <a:rPr lang="en-IN" sz="1600" b="1" dirty="0"/>
              <a:t>Latest trends:</a:t>
            </a:r>
          </a:p>
          <a:p>
            <a:pPr lvl="1"/>
            <a:r>
              <a:rPr lang="en-IN" sz="1600" b="1" dirty="0"/>
              <a:t>AI for diagnosis &amp; patient monitoring</a:t>
            </a:r>
          </a:p>
          <a:p>
            <a:pPr lvl="1"/>
            <a:r>
              <a:rPr lang="en-IN" sz="1600" b="1" dirty="0"/>
              <a:t>IoT wearables for real-time health data</a:t>
            </a:r>
          </a:p>
          <a:p>
            <a:pPr lvl="1"/>
            <a:r>
              <a:rPr lang="en-IN" sz="1600" b="1" dirty="0"/>
              <a:t>Cloud storage &amp; Big Data for predictions</a:t>
            </a:r>
          </a:p>
          <a:p>
            <a:r>
              <a:rPr lang="en-IN" sz="1600" b="1" dirty="0"/>
              <a:t>Gap: Small/rural hospitals need simple, low-cost solutions</a:t>
            </a:r>
          </a:p>
          <a:p>
            <a:endParaRPr sz="1600" b="1"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1A5A4-429A-6283-3BE2-75CB6E636234}"/>
            </a:ext>
          </a:extLst>
        </p:cNvPr>
        <p:cNvGrpSpPr/>
        <p:nvPr/>
      </p:nvGrpSpPr>
      <p:grpSpPr>
        <a:xfrm>
          <a:off x="0" y="0"/>
          <a:ext cx="0" cy="0"/>
          <a:chOff x="0" y="0"/>
          <a:chExt cx="0" cy="0"/>
        </a:xfrm>
      </p:grpSpPr>
      <p:pic>
        <p:nvPicPr>
          <p:cNvPr id="3074" name="Picture 2" descr="Generated image">
            <a:extLst>
              <a:ext uri="{FF2B5EF4-FFF2-40B4-BE49-F238E27FC236}">
                <a16:creationId xmlns:a16="http://schemas.microsoft.com/office/drawing/2014/main" id="{ACA6D45A-4B53-D553-C415-5154FD2EBE9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38208" y="2095500"/>
            <a:ext cx="6067584" cy="36957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044BFDC-6362-41CA-F0BE-3C30BF6BD70E}"/>
              </a:ext>
            </a:extLst>
          </p:cNvPr>
          <p:cNvSpPr txBox="1"/>
          <p:nvPr/>
        </p:nvSpPr>
        <p:spPr>
          <a:xfrm>
            <a:off x="475488" y="649224"/>
            <a:ext cx="8220456" cy="707886"/>
          </a:xfrm>
          <a:prstGeom prst="rect">
            <a:avLst/>
          </a:prstGeom>
          <a:noFill/>
        </p:spPr>
        <p:txBody>
          <a:bodyPr wrap="square" rtlCol="0">
            <a:spAutoFit/>
          </a:bodyPr>
          <a:lstStyle/>
          <a:p>
            <a:pPr algn="ctr"/>
            <a:r>
              <a:rPr lang="en-IN" sz="4000" b="1" dirty="0"/>
              <a:t>SYSTEM ARCHITECTURE</a:t>
            </a:r>
            <a:endParaRPr lang="en-IN" b="1" dirty="0"/>
          </a:p>
        </p:txBody>
      </p:sp>
    </p:spTree>
    <p:extLst>
      <p:ext uri="{BB962C8B-B14F-4D97-AF65-F5344CB8AC3E}">
        <p14:creationId xmlns:p14="http://schemas.microsoft.com/office/powerpoint/2010/main" val="89475950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ER Diagram</a:t>
            </a:r>
            <a:endParaRPr dirty="0"/>
          </a:p>
        </p:txBody>
      </p:sp>
      <p:sp>
        <p:nvSpPr>
          <p:cNvPr id="4" name="Rectangle 1">
            <a:extLst>
              <a:ext uri="{FF2B5EF4-FFF2-40B4-BE49-F238E27FC236}">
                <a16:creationId xmlns:a16="http://schemas.microsoft.com/office/drawing/2014/main" id="{BE0C57D8-980E-C027-B860-5DCB7B9AA27A}"/>
              </a:ext>
            </a:extLst>
          </p:cNvPr>
          <p:cNvSpPr>
            <a:spLocks noGrp="1" noChangeArrowheads="1"/>
          </p:cNvSpPr>
          <p:nvPr>
            <p:ph idx="1"/>
          </p:nvPr>
        </p:nvSpPr>
        <p:spPr bwMode="auto">
          <a:xfrm>
            <a:off x="685347" y="1767866"/>
            <a:ext cx="8850566"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Patient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Attributes: </a:t>
            </a:r>
            <a:r>
              <a:rPr kumimoji="0" lang="en-US" altLang="en-US" b="0" i="0" u="none" strike="noStrike" cap="none" normalizeH="0" baseline="0" dirty="0" err="1">
                <a:ln>
                  <a:noFill/>
                </a:ln>
                <a:solidFill>
                  <a:schemeClr val="tx1"/>
                </a:solidFill>
                <a:effectLst/>
                <a:latin typeface="Arial" panose="020B0604020202020204" pitchFamily="34" charset="0"/>
              </a:rPr>
              <a:t>Patient_ID</a:t>
            </a:r>
            <a:r>
              <a:rPr kumimoji="0" lang="en-US" altLang="en-US" b="0" i="0" u="none" strike="noStrike" cap="none" normalizeH="0" baseline="0" dirty="0">
                <a:ln>
                  <a:noFill/>
                </a:ln>
                <a:solidFill>
                  <a:schemeClr val="tx1"/>
                </a:solidFill>
                <a:effectLst/>
                <a:latin typeface="Arial" panose="020B0604020202020204" pitchFamily="34" charset="0"/>
              </a:rPr>
              <a:t>, Name, Age, Gender, Contact, Address, </a:t>
            </a:r>
            <a:r>
              <a:rPr kumimoji="0" lang="en-US" altLang="en-US" b="0" i="0" u="none" strike="noStrike" cap="none" normalizeH="0" baseline="0" dirty="0" err="1">
                <a:ln>
                  <a:noFill/>
                </a:ln>
                <a:solidFill>
                  <a:schemeClr val="tx1"/>
                </a:solidFill>
                <a:effectLst/>
                <a:latin typeface="Arial" panose="020B0604020202020204" pitchFamily="34" charset="0"/>
              </a:rPr>
              <a:t>Medical_History</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Doctor</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Attributes: </a:t>
            </a:r>
            <a:r>
              <a:rPr kumimoji="0" lang="en-US" altLang="en-US" b="0" i="0" u="none" strike="noStrike" cap="none" normalizeH="0" baseline="0" dirty="0" err="1">
                <a:ln>
                  <a:noFill/>
                </a:ln>
                <a:solidFill>
                  <a:schemeClr val="tx1"/>
                </a:solidFill>
                <a:effectLst/>
                <a:latin typeface="Arial" panose="020B0604020202020204" pitchFamily="34" charset="0"/>
              </a:rPr>
              <a:t>Doctor_ID</a:t>
            </a:r>
            <a:r>
              <a:rPr kumimoji="0" lang="en-US" altLang="en-US" b="0" i="0" u="none" strike="noStrike" cap="none" normalizeH="0" baseline="0" dirty="0">
                <a:ln>
                  <a:noFill/>
                </a:ln>
                <a:solidFill>
                  <a:schemeClr val="tx1"/>
                </a:solidFill>
                <a:effectLst/>
                <a:latin typeface="Arial" panose="020B0604020202020204" pitchFamily="34" charset="0"/>
              </a:rPr>
              <a:t>, Name, Specialization, Contact, Availability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Appointment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Attributes: </a:t>
            </a:r>
            <a:r>
              <a:rPr kumimoji="0" lang="en-US" altLang="en-US" b="0" i="0" u="none" strike="noStrike" cap="none" normalizeH="0" baseline="0" dirty="0" err="1">
                <a:ln>
                  <a:noFill/>
                </a:ln>
                <a:solidFill>
                  <a:schemeClr val="tx1"/>
                </a:solidFill>
                <a:effectLst/>
                <a:latin typeface="Arial" panose="020B0604020202020204" pitchFamily="34" charset="0"/>
              </a:rPr>
              <a:t>Appointment_ID</a:t>
            </a:r>
            <a:r>
              <a:rPr kumimoji="0" lang="en-US" altLang="en-US" b="0" i="0" u="none" strike="noStrike" cap="none" normalizeH="0" baseline="0" dirty="0">
                <a:ln>
                  <a:noFill/>
                </a:ln>
                <a:solidFill>
                  <a:schemeClr val="tx1"/>
                </a:solidFill>
                <a:effectLst/>
                <a:latin typeface="Arial" panose="020B0604020202020204" pitchFamily="34" charset="0"/>
              </a:rPr>
              <a:t>, Date, Time, Status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Treatment / Prescription</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Attributes: </a:t>
            </a:r>
            <a:r>
              <a:rPr kumimoji="0" lang="en-US" altLang="en-US" b="0" i="0" u="none" strike="noStrike" cap="none" normalizeH="0" baseline="0" dirty="0" err="1">
                <a:ln>
                  <a:noFill/>
                </a:ln>
                <a:solidFill>
                  <a:schemeClr val="tx1"/>
                </a:solidFill>
                <a:effectLst/>
                <a:latin typeface="Arial" panose="020B0604020202020204" pitchFamily="34" charset="0"/>
              </a:rPr>
              <a:t>Treatment_ID</a:t>
            </a:r>
            <a:r>
              <a:rPr kumimoji="0" lang="en-US" altLang="en-US" b="0" i="0" u="none" strike="noStrike" cap="none" normalizeH="0" baseline="0" dirty="0">
                <a:ln>
                  <a:noFill/>
                </a:ln>
                <a:solidFill>
                  <a:schemeClr val="tx1"/>
                </a:solidFill>
                <a:effectLst/>
                <a:latin typeface="Arial" panose="020B0604020202020204" pitchFamily="34" charset="0"/>
              </a:rPr>
              <a:t>, Diagnosis, Medicine, Notes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Bill / Payment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Attributes: </a:t>
            </a:r>
            <a:r>
              <a:rPr kumimoji="0" lang="en-US" altLang="en-US" b="0" i="0" u="none" strike="noStrike" cap="none" normalizeH="0" baseline="0" dirty="0" err="1">
                <a:ln>
                  <a:noFill/>
                </a:ln>
                <a:solidFill>
                  <a:schemeClr val="tx1"/>
                </a:solidFill>
                <a:effectLst/>
                <a:latin typeface="Arial" panose="020B0604020202020204" pitchFamily="34" charset="0"/>
              </a:rPr>
              <a:t>Bill_ID</a:t>
            </a:r>
            <a:r>
              <a:rPr kumimoji="0" lang="en-US" altLang="en-US" b="0" i="0" u="none" strike="noStrike" cap="none" normalizeH="0" baseline="0" dirty="0">
                <a:ln>
                  <a:noFill/>
                </a:ln>
                <a:solidFill>
                  <a:schemeClr val="tx1"/>
                </a:solidFill>
                <a:effectLst/>
                <a:latin typeface="Arial" panose="020B0604020202020204" pitchFamily="34" charset="0"/>
              </a:rPr>
              <a:t>, Amount, Date, Status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Staff / Admin</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Attributes: </a:t>
            </a:r>
            <a:r>
              <a:rPr kumimoji="0" lang="en-US" altLang="en-US" b="0" i="0" u="none" strike="noStrike" cap="none" normalizeH="0" baseline="0" dirty="0" err="1">
                <a:ln>
                  <a:noFill/>
                </a:ln>
                <a:solidFill>
                  <a:schemeClr val="tx1"/>
                </a:solidFill>
                <a:effectLst/>
                <a:latin typeface="Arial" panose="020B0604020202020204" pitchFamily="34" charset="0"/>
              </a:rPr>
              <a:t>Staff_ID</a:t>
            </a:r>
            <a:r>
              <a:rPr kumimoji="0" lang="en-US" altLang="en-US" b="0" i="0" u="none" strike="noStrike" cap="none" normalizeH="0" baseline="0" dirty="0">
                <a:ln>
                  <a:noFill/>
                </a:ln>
                <a:solidFill>
                  <a:schemeClr val="tx1"/>
                </a:solidFill>
                <a:effectLst/>
                <a:latin typeface="Arial" panose="020B0604020202020204" pitchFamily="34" charset="0"/>
              </a:rPr>
              <a:t>, Name, Role, Contact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457200"/>
            <a:ext cx="7315200" cy="707886"/>
          </a:xfrm>
          <a:prstGeom prst="rect">
            <a:avLst/>
          </a:prstGeom>
          <a:noFill/>
        </p:spPr>
        <p:txBody>
          <a:bodyPr wrap="square">
            <a:spAutoFit/>
          </a:bodyPr>
          <a:lstStyle/>
          <a:p>
            <a:pPr algn="ctr"/>
            <a:r>
              <a:rPr lang="en-IN" sz="4000" dirty="0"/>
              <a:t>ER Diagram</a:t>
            </a:r>
            <a:endParaRPr sz="4000" dirty="0"/>
          </a:p>
        </p:txBody>
      </p:sp>
      <p:pic>
        <p:nvPicPr>
          <p:cNvPr id="1026" name="Picture 2" descr="E-R Diagram for Hospital Management System | Abhijay Patne">
            <a:extLst>
              <a:ext uri="{FF2B5EF4-FFF2-40B4-BE49-F238E27FC236}">
                <a16:creationId xmlns:a16="http://schemas.microsoft.com/office/drawing/2014/main" id="{116F4C17-82E8-7A4F-8A64-CC2A28E565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064" y="1698625"/>
            <a:ext cx="8275320" cy="47021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CE5751-0B13-F985-AF2E-505C555CCEF7}"/>
              </a:ext>
            </a:extLst>
          </p:cNvPr>
          <p:cNvSpPr txBox="1"/>
          <p:nvPr/>
        </p:nvSpPr>
        <p:spPr>
          <a:xfrm>
            <a:off x="1088136" y="1115568"/>
            <a:ext cx="6172200" cy="4524315"/>
          </a:xfrm>
          <a:prstGeom prst="rect">
            <a:avLst/>
          </a:prstGeom>
          <a:noFill/>
        </p:spPr>
        <p:txBody>
          <a:bodyPr wrap="square" rtlCol="0">
            <a:spAutoFit/>
          </a:bodyPr>
          <a:lstStyle/>
          <a:p>
            <a:endParaRPr lang="en-IN" sz="9600" b="1" dirty="0"/>
          </a:p>
          <a:p>
            <a:r>
              <a:rPr lang="en-IN" sz="9600" b="1" dirty="0"/>
              <a:t>THANK YOU!</a:t>
            </a:r>
          </a:p>
        </p:txBody>
      </p:sp>
    </p:spTree>
    <p:extLst>
      <p:ext uri="{BB962C8B-B14F-4D97-AF65-F5344CB8AC3E}">
        <p14:creationId xmlns:p14="http://schemas.microsoft.com/office/powerpoint/2010/main" val="339359704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TM10001115[[fn=Parcel]]</Template>
  <TotalTime>116</TotalTime>
  <Words>324</Words>
  <Application>Microsoft Office PowerPoint</Application>
  <PresentationFormat>On-screen Show (4:3)</PresentationFormat>
  <Paragraphs>36</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Bookman Old Style</vt:lpstr>
      <vt:lpstr>Calibri</vt:lpstr>
      <vt:lpstr>Rockwell</vt:lpstr>
      <vt:lpstr>Damask</vt:lpstr>
      <vt:lpstr>Hospital Patient Management System</vt:lpstr>
      <vt:lpstr>Abstract</vt:lpstr>
      <vt:lpstr>Problem Statement</vt:lpstr>
      <vt:lpstr>Introduction</vt:lpstr>
      <vt:lpstr>Background</vt:lpstr>
      <vt:lpstr>PowerPoint Presentation</vt:lpstr>
      <vt:lpstr>ER Diagram</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Naga Sreeja Kodali</dc:creator>
  <cp:keywords/>
  <dc:description>generated using python-pptx</dc:description>
  <cp:lastModifiedBy>likithathumma@gmail.com</cp:lastModifiedBy>
  <cp:revision>5</cp:revision>
  <dcterms:created xsi:type="dcterms:W3CDTF">2013-01-27T09:14:16Z</dcterms:created>
  <dcterms:modified xsi:type="dcterms:W3CDTF">2025-08-18T04:19:14Z</dcterms:modified>
  <cp:category/>
</cp:coreProperties>
</file>